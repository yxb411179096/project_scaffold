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unit3</a:t>
            </a:r>
          </a:p>
          <a:p>
            <a:pPr>
              <a:spcAft>
                <a:spcPts val="800"/>
              </a:spcAft>
              <a:defRPr sz="2100"/>
            </a:pPr>
            <a:r>
              <a:t>Reading</a:t>
            </a:r>
          </a:p>
          <a:p>
            <a:pPr>
              <a:spcAft>
                <a:spcPts val="800"/>
              </a:spcAft>
              <a:defRPr sz="2100"/>
            </a:pPr>
            <a:r>
              <a:t>高二 | 人教版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cover</a:t>
            </a:r>
          </a:p>
          <a:p>
            <a:pPr>
              <a:spcAft>
                <a:spcPts val="1000"/>
              </a:spcAft>
              <a:defRPr sz="1200" b="0"/>
            </a:pPr>
            <a:r>
              <a:t>Purpose: Set the lesson context and establish a clear learning theme.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 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Open the lesson, greet the class, and introduce the focus of sports.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3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Identify the key idea related to sports.</a:t>
            </a:r>
          </a:p>
          <a:p>
            <a:pPr>
              <a:spcAft>
                <a:spcPts val="800"/>
              </a:spcAft>
              <a:defRPr sz="2100"/>
            </a:pPr>
            <a:r>
              <a:t>Use 3 to 5 target expressions in classroom tasks.</a:t>
            </a:r>
          </a:p>
          <a:p>
            <a:pPr>
              <a:spcAft>
                <a:spcPts val="800"/>
              </a:spcAft>
              <a:defRPr sz="2100"/>
            </a:pPr>
            <a:r>
              <a:t>Complete one spoken or written output with clear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objectives</a:t>
            </a:r>
          </a:p>
          <a:p>
            <a:pPr>
              <a:spcAft>
                <a:spcPts val="1000"/>
              </a:spcAft>
              <a:defRPr sz="1200" b="0"/>
            </a:pPr>
            <a:r>
              <a:t>Purpose: Clarify measurable outcomes for the lesson.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Teacher-student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Read the objectives aloud and ask students which goal may be the most challenging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Understand the core content of sports.</a:t>
            </a:r>
          </a:p>
          <a:p>
            <a:pPr>
              <a:spcAft>
                <a:spcPts val="800"/>
              </a:spcAft>
              <a:defRPr sz="2100"/>
            </a:pPr>
            <a:r>
              <a:t>Use the lesson language with accurate meaning and form.</a:t>
            </a:r>
          </a:p>
          <a:p>
            <a:pPr>
              <a:spcAft>
                <a:spcPts val="800"/>
              </a:spcAft>
              <a:defRPr sz="2100"/>
            </a:pPr>
            <a:r>
              <a:t>Finish the main classroom task with teamwork and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key_points</a:t>
            </a:r>
          </a:p>
          <a:p>
            <a:pPr>
              <a:spcAft>
                <a:spcPts val="1000"/>
              </a:spcAft>
              <a:defRPr sz="1200" b="0"/>
            </a:pPr>
            <a:r>
              <a:t>Purpose: Highlight the major learning targets of the lesson.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Point out the two or three priorities so students know where to concentrate their attention.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Difficult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Explain ideas in complete English rather than single words.</a:t>
            </a:r>
          </a:p>
          <a:p>
            <a:pPr>
              <a:spcAft>
                <a:spcPts val="800"/>
              </a:spcAft>
              <a:defRPr sz="2100"/>
            </a:pPr>
            <a:r>
              <a:t>Use target language accurately in context.</a:t>
            </a:r>
          </a:p>
          <a:p>
            <a:pPr>
              <a:spcAft>
                <a:spcPts val="800"/>
              </a:spcAft>
              <a:defRPr sz="2100"/>
            </a:pPr>
            <a:r>
              <a:t>Give brief scaffolds, then move students toward independent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difficult_points</a:t>
            </a:r>
          </a:p>
          <a:p>
            <a:pPr>
              <a:spcAft>
                <a:spcPts val="1000"/>
              </a:spcAft>
              <a:defRPr sz="1200" b="0"/>
            </a:pPr>
            <a:r>
              <a:t>Purpose: Make learning challenges visible and manageable.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 scaffolding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Tell students that the difficult points are normal and will be solved through guided practice.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4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Look at the lesson title: sports.</a:t>
            </a:r>
          </a:p>
          <a:p>
            <a:pPr>
              <a:spcAft>
                <a:spcPts val="800"/>
              </a:spcAft>
              <a:defRPr sz="2100"/>
            </a:pPr>
            <a:r>
              <a:t>Share one fact or experience connected to sports.</a:t>
            </a:r>
          </a:p>
          <a:p>
            <a:pPr>
              <a:spcAft>
                <a:spcPts val="800"/>
              </a:spcAft>
              <a:defRPr sz="2100"/>
            </a:pPr>
            <a:r>
              <a:t>Predict what we may learn or discuss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lead_in</a:t>
            </a:r>
          </a:p>
          <a:p>
            <a:pPr>
              <a:spcAft>
                <a:spcPts val="1000"/>
              </a:spcAft>
              <a:defRPr sz="1200" b="0"/>
            </a:pPr>
            <a:r>
              <a:t>Purpose: Activate prior knowledge and raise classroom interest.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Pair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Use think-pair-share to activate background knowledge before the core task.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4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Look at the title, pictures, and key words.</a:t>
            </a:r>
          </a:p>
          <a:p>
            <a:pPr>
              <a:spcAft>
                <a:spcPts val="800"/>
              </a:spcAft>
              <a:defRPr sz="2100"/>
            </a:pPr>
            <a:r>
              <a:t>Predict the topic and possible structure of the text.</a:t>
            </a:r>
          </a:p>
          <a:p>
            <a:pPr>
              <a:spcAft>
                <a:spcPts val="800"/>
              </a:spcAft>
              <a:defRPr sz="2100"/>
            </a:pPr>
            <a:r>
              <a:t>Write one guiding question for reading.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prediction</a:t>
            </a:r>
          </a:p>
          <a:p>
            <a:pPr>
              <a:spcAft>
                <a:spcPts val="1000"/>
              </a:spcAft>
              <a:defRPr sz="1200" b="0"/>
            </a:pPr>
            <a:r>
              <a:t>Purpose: Build an efficient reading purpose before detailed processing.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Prediction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Collect two or three predictions and connect them to the reading purpose.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6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Skim the text in 2 minutes.</a:t>
            </a:r>
          </a:p>
          <a:p>
            <a:pPr>
              <a:spcAft>
                <a:spcPts val="800"/>
              </a:spcAft>
              <a:defRPr sz="2100"/>
            </a:pPr>
            <a:r>
              <a:t>Match each paragraph with its main idea.</a:t>
            </a:r>
          </a:p>
          <a:p>
            <a:pPr>
              <a:spcAft>
                <a:spcPts val="800"/>
              </a:spcAft>
              <a:defRPr sz="2100"/>
            </a:pPr>
            <a:r>
              <a:t>Choose the best summary sentence.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fast_reading</a:t>
            </a:r>
          </a:p>
          <a:p>
            <a:pPr>
              <a:spcAft>
                <a:spcPts val="1000"/>
              </a:spcAft>
              <a:defRPr sz="1200" b="0"/>
            </a:pPr>
            <a:r>
              <a:t>Purpose: Train students to identify gist quickly.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Individual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Remind students to focus on main ideas instead of translating every sentence.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8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Read again and locate key details.</a:t>
            </a:r>
          </a:p>
          <a:p>
            <a:pPr>
              <a:spcAft>
                <a:spcPts val="800"/>
              </a:spcAft>
              <a:defRPr sz="2100"/>
            </a:pPr>
            <a:r>
              <a:t>Answer: What happens, why, and with what result?</a:t>
            </a:r>
          </a:p>
          <a:p>
            <a:pPr>
              <a:spcAft>
                <a:spcPts val="800"/>
              </a:spcAft>
              <a:defRPr sz="2100"/>
            </a:pPr>
            <a:r>
              <a:t>Mark evidence that supports your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careful_reading</a:t>
            </a:r>
          </a:p>
          <a:p>
            <a:pPr>
              <a:spcAft>
                <a:spcPts val="1000"/>
              </a:spcAft>
              <a:defRPr sz="1200" b="0"/>
            </a:pPr>
            <a:r>
              <a:t>Purpose: Improve detail reading, inference, and evidence use.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Question answering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Guide students to support answers with evidence from the text instead of guessing.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Vocabulary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Target words: topic, evidence, response, support.</a:t>
            </a:r>
          </a:p>
          <a:p>
            <a:pPr>
              <a:spcAft>
                <a:spcPts val="800"/>
              </a:spcAft>
              <a:defRPr sz="2100"/>
            </a:pPr>
            <a:r>
              <a:t>Match each word or phrase with a simple meaning.</a:t>
            </a:r>
          </a:p>
          <a:p>
            <a:pPr>
              <a:spcAft>
                <a:spcPts val="800"/>
              </a:spcAft>
              <a:defRPr sz="2100"/>
            </a:pPr>
            <a:r>
              <a:t>Use one expression to make a sentence about sports.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vocabulary_support</a:t>
            </a:r>
          </a:p>
          <a:p>
            <a:pPr>
              <a:spcAft>
                <a:spcPts val="1000"/>
              </a:spcAft>
              <a:defRPr sz="1200" b="0"/>
            </a:pPr>
            <a:r>
              <a:t>Purpose: Support comprehension and later output with usable language.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Language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Keep explanations brief and move quickly to contextualized sentence practice.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Task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Task: complete a short reading response.</a:t>
            </a:r>
          </a:p>
          <a:p>
            <a:pPr>
              <a:spcAft>
                <a:spcPts val="800"/>
              </a:spcAft>
              <a:defRPr sz="2100"/>
            </a:pPr>
            <a:r>
              <a:t>Step 1: gather ideas from today's lesson.</a:t>
            </a:r>
          </a:p>
          <a:p>
            <a:pPr>
              <a:spcAft>
                <a:spcPts val="800"/>
              </a:spcAft>
              <a:defRPr sz="2100"/>
            </a:pPr>
            <a:r>
              <a:t>Step 2: organize evidence and language support.</a:t>
            </a:r>
          </a:p>
          <a:p>
            <a:pPr>
              <a:spcAft>
                <a:spcPts val="800"/>
              </a:spcAft>
              <a:defRPr sz="2100"/>
            </a:pPr>
            <a:r>
              <a:t>Step 3: present or submit your final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task_design</a:t>
            </a:r>
          </a:p>
          <a:p>
            <a:pPr>
              <a:spcAft>
                <a:spcPts val="1000"/>
              </a:spcAft>
              <a:defRPr sz="1200" b="0"/>
            </a:pPr>
            <a:r>
              <a:t>Purpose: Connect lesson input to a concrete classroom task.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Task-based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Explain the success criteria before students begin the task.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Classroom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6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Discuss in groups: How can your group show a clear idea and one strong example for the open lesson?</a:t>
            </a:r>
          </a:p>
          <a:p>
            <a:pPr>
              <a:spcAft>
                <a:spcPts val="800"/>
              </a:spcAft>
              <a:defRPr sz="2100"/>
            </a:pPr>
            <a:r>
              <a:t>Choose one speaker and one note taker.</a:t>
            </a:r>
          </a:p>
          <a:p>
            <a:pPr>
              <a:spcAft>
                <a:spcPts val="800"/>
              </a:spcAft>
              <a:defRPr sz="2100"/>
            </a:pPr>
            <a:r>
              <a:t>Be ready to share one group answer with the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classroom_interaction</a:t>
            </a:r>
          </a:p>
          <a:p>
            <a:pPr>
              <a:spcAft>
                <a:spcPts val="1000"/>
              </a:spcAft>
              <a:defRPr sz="1200" b="0"/>
            </a:pPr>
            <a:r>
              <a:t>Purpose: Create meaningful student talk and collaborative thinking.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Group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Circulate during the activity and support groups with prompts instead of full answers.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3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Today we learned the key idea of sports.</a:t>
            </a:r>
          </a:p>
          <a:p>
            <a:pPr>
              <a:spcAft>
                <a:spcPts val="800"/>
              </a:spcAft>
              <a:defRPr sz="2100"/>
            </a:pPr>
            <a:r>
              <a:t>We practiced target language for short reading response.</a:t>
            </a:r>
          </a:p>
          <a:p>
            <a:pPr>
              <a:spcAft>
                <a:spcPts val="800"/>
              </a:spcAft>
              <a:defRPr sz="2100"/>
            </a:pPr>
            <a:r>
              <a:t>We checked evidence, language, and interaction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summary</a:t>
            </a:r>
          </a:p>
          <a:p>
            <a:pPr>
              <a:spcAft>
                <a:spcPts val="1000"/>
              </a:spcAft>
              <a:defRPr sz="1200" b="0"/>
            </a:pPr>
            <a:r>
              <a:t>Purpose: Consolidate what students have achieved in the lesson.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Student reflection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Let students summarize first, then use your summary to close gaps.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Review today's target words and expressions.</a:t>
            </a:r>
          </a:p>
          <a:p>
            <a:pPr>
              <a:spcAft>
                <a:spcPts val="800"/>
              </a:spcAft>
              <a:defRPr sz="2100"/>
            </a:pPr>
            <a:r>
              <a:t>Finish or improve your short reading response.</a:t>
            </a:r>
          </a:p>
          <a:p>
            <a:pPr>
              <a:spcAft>
                <a:spcPts val="800"/>
              </a:spcAft>
              <a:defRPr sz="2100"/>
            </a:pPr>
            <a:r>
              <a:t>Write 4 to 5 sentences about the reading topic.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homework</a:t>
            </a:r>
          </a:p>
          <a:p>
            <a:pPr>
              <a:spcAft>
                <a:spcPts val="1000"/>
              </a:spcAft>
              <a:defRPr sz="1200" b="0"/>
            </a:pPr>
            <a:r>
              <a:t>Purpose: Extend learning beyond the classroom with focused follow-up work.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Assignment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State the product, length, and quality requirement clearly before students leave.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74320"/>
            <a:ext cx="11247120" cy="77724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39319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F3FF"/>
                </a:solidFill>
              </a:defRPr>
            </a:pPr>
            <a:r>
              <a:t>1 minute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858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sports</a:t>
            </a:r>
          </a:p>
          <a:p>
            <a:pPr>
              <a:spcAft>
                <a:spcPts val="800"/>
              </a:spcAft>
              <a:defRPr sz="2100"/>
            </a:pPr>
            <a:r>
              <a:t>Theme: sports</a:t>
            </a:r>
          </a:p>
          <a:p>
            <a:pPr>
              <a:spcAft>
                <a:spcPts val="800"/>
              </a:spcAft>
              <a:defRPr sz="2100"/>
            </a:pPr>
            <a:r>
              <a:t>Key language -&gt; Evidence -&gt; Output</a:t>
            </a:r>
          </a:p>
          <a:p>
            <a:pPr>
              <a:spcAft>
                <a:spcPts val="800"/>
              </a:spcAft>
              <a:defRPr sz="2100"/>
            </a:pPr>
            <a:r>
              <a:t>Task product: short reading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E9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/>
            </a:pPr>
            <a:r>
              <a:t>Slide Type: blackboard_design</a:t>
            </a:r>
          </a:p>
          <a:p>
            <a:pPr>
              <a:spcAft>
                <a:spcPts val="1000"/>
              </a:spcAft>
              <a:defRPr sz="1200" b="0"/>
            </a:pPr>
            <a:r>
              <a:t>Purpose: Provide a concise board plan for lesson organization.</a:t>
            </a:r>
          </a:p>
          <a:p>
            <a:pPr>
              <a:spcAft>
                <a:spcPts val="1000"/>
              </a:spcAft>
              <a:defRPr sz="1200" b="0"/>
            </a:pPr>
            <a:r>
              <a:t>Interaction: Teacher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881360" cy="50292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25724"/>
                </a:solidFill>
              </a:defRPr>
            </a:pPr>
            <a:r>
              <a:t>Notes: Use this structure to keep classroom board work clear and easy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