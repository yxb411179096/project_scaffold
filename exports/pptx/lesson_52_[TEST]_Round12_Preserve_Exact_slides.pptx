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31520"/>
            <a:ext cx="47548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0" y="502920"/>
            <a:ext cx="5532120" cy="5440680"/>
          </a:xfrm>
          <a:prstGeom prst="roundRect">
            <a:avLst/>
          </a:prstGeom>
          <a:solidFill>
            <a:srgbClr val="F1E9DC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51560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785027"/>
                </a:solidFill>
              </a:defRPr>
            </a:pPr>
            <a:r>
              <a:t>Unit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023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2365C"/>
                </a:solidFill>
              </a:defRPr>
            </a:pPr>
            <a: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9184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675F57"/>
                </a:solidFill>
              </a:defRPr>
            </a:pPr>
            <a:r>
              <a:t>高中英语教学PPT文案：The Power of Reading • The Power of Reading •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914400"/>
            <a:ext cx="4983480" cy="3840480"/>
          </a:xfrm>
          <a:prstGeom prst="rect">
            <a:avLst/>
          </a:prstGeom>
          <a:solidFill>
            <a:srgbClr val="F1E9DC"/>
          </a:solidFill>
          <a:ln w="19050">
            <a:solidFill>
              <a:srgbClr val="785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989320" y="914400"/>
            <a:ext cx="4983480" cy="3840480"/>
          </a:xfrm>
          <a:prstGeom prst="line">
            <a:avLst/>
          </a:prstGeom>
          <a:ln>
            <a:solidFill>
              <a:srgbClr val="785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5989320" y="914400"/>
            <a:ext cx="4983480" cy="3840480"/>
          </a:xfrm>
          <a:prstGeom prst="line">
            <a:avLst/>
          </a:prstGeom>
          <a:ln>
            <a:solidFill>
              <a:srgbClr val="785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17920" y="1417320"/>
            <a:ext cx="4526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785027"/>
                </a:solidFill>
              </a:defRPr>
            </a:pPr>
            <a:r>
              <a:t>students reading in a bright school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8348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785027"/>
                </a:solidFill>
              </a:defRPr>
            </a:pPr>
            <a:r>
              <a:t>高一 • 人教版 • 公开课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Preserve and present the original manuscript page: Cover.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Understand why reading matters in daily life.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Preserve and present the original manuscript page: Learning Objectives.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27632"/>
            <a:ext cx="2880360" cy="2971800"/>
          </a:xfrm>
          <a:prstGeom prst="rect">
            <a:avLst/>
          </a:prstGeom>
          <a:solidFill>
            <a:srgbClr val="F1E9DC"/>
          </a:solidFill>
          <a:ln w="19050">
            <a:solidFill>
              <a:srgbClr val="785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1627632"/>
            <a:ext cx="2880360" cy="2971800"/>
          </a:xfrm>
          <a:prstGeom prst="line">
            <a:avLst/>
          </a:prstGeom>
          <a:ln>
            <a:solidFill>
              <a:srgbClr val="785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68680" y="1627632"/>
            <a:ext cx="2880360" cy="2971800"/>
          </a:xfrm>
          <a:prstGeom prst="line">
            <a:avLst/>
          </a:prstGeom>
          <a:ln>
            <a:solidFill>
              <a:srgbClr val="785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2130552"/>
            <a:ext cx="2423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785027"/>
                </a:solidFill>
              </a:defRPr>
            </a:pPr>
            <a:r>
              <a:t>a teenager choosing books in a library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719072"/>
            <a:ext cx="19659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3672" y="192024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785027"/>
                </a:solidFill>
              </a:defRPr>
            </a:pPr>
            <a: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2286000"/>
            <a:ext cx="16459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12365C"/>
                </a:solidFill>
              </a:defRPr>
            </a:pPr>
            <a:r>
              <a:t>Question: What kinds of books do you enjoy reading?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19072"/>
            <a:ext cx="19659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192024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785027"/>
                </a:solidFill>
              </a:defRPr>
            </a:pPr>
            <a: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2286000"/>
            <a:ext cx="16459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12365C"/>
                </a:solidFill>
              </a:defRPr>
            </a:pPr>
            <a:r>
              <a:t>Question: How often do you read after class?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719072"/>
            <a:ext cx="19659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192024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785027"/>
                </a:solidFill>
              </a:defRPr>
            </a:pPr>
            <a: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2286000"/>
            <a:ext cx="16459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12365C"/>
                </a:solidFill>
              </a:defRPr>
            </a:pPr>
            <a:r>
              <a:t>Share one idea with your partner.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892040"/>
            <a:ext cx="10195560" cy="731520"/>
          </a:xfrm>
          <a:prstGeom prst="roundRect">
            <a:avLst/>
          </a:prstGeom>
          <a:solidFill>
            <a:srgbClr val="F1E9DC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04748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2365C"/>
                </a:solidFill>
              </a:defRPr>
            </a:pPr>
            <a:r>
              <a:t>Useful Expressions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4956048"/>
            <a:ext cx="2377440" cy="566928"/>
          </a:xfrm>
          <a:prstGeom prst="roundRect">
            <a:avLst/>
          </a:prstGeom>
          <a:solidFill>
            <a:srgbClr val="F1E9DC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5808" y="5102352"/>
            <a:ext cx="21579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212224"/>
                </a:solidFill>
              </a:defRPr>
            </a:pPr>
            <a:r>
              <a:t>Keyword: develop a reading habit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9824" y="4956048"/>
            <a:ext cx="2377440" cy="566928"/>
          </a:xfrm>
          <a:prstGeom prst="roundRect">
            <a:avLst/>
          </a:prstGeom>
          <a:solidFill>
            <a:srgbClr val="F1E9DC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9552" y="5102352"/>
            <a:ext cx="21579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212224"/>
                </a:solidFill>
              </a:defRPr>
            </a:pPr>
            <a:r>
              <a:t>Clue: broaden our horizons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3568" y="4956048"/>
            <a:ext cx="2377440" cy="566928"/>
          </a:xfrm>
          <a:prstGeom prst="roundRect">
            <a:avLst/>
          </a:prstGeom>
          <a:solidFill>
            <a:srgbClr val="F1E9DC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5102352"/>
            <a:ext cx="21579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212224"/>
                </a:solidFill>
              </a:defRPr>
            </a:pPr>
            <a:r>
              <a:t>Example: read for pleasure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Preserve and present the original manuscript page: Lead-in.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925312"/>
            <a:ext cx="8915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675F57"/>
                </a:solidFill>
              </a:defRPr>
            </a:pPr>
            <a:r>
              <a:t>Hint: 可引导学生先说中文，再补英文关键词。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Key Sentence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2365C"/>
                </a:solidFill>
              </a:defRPr>
            </a:pPr>
            <a:r>
              <a:t>Reading is not only a way to get information, but also a way to understand the world.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785027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Keyword: gain knowledge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785027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Clue: understand the world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785027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Reading helps us learn new ideas.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709160"/>
            <a:ext cx="5577840" cy="749808"/>
          </a:xfrm>
          <a:prstGeom prst="roundRect">
            <a:avLst/>
          </a:prstGeom>
          <a:solidFill>
            <a:srgbClr val="F1E9DC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882896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2365C"/>
                </a:solidFill>
              </a:defRPr>
            </a:pPr>
            <a:r>
              <a:t>Useful Expressions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791456"/>
            <a:ext cx="1234440" cy="566928"/>
          </a:xfrm>
          <a:prstGeom prst="roundRect">
            <a:avLst/>
          </a:prstGeom>
          <a:solidFill>
            <a:srgbClr val="F1E9DC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2928" y="4937760"/>
            <a:ext cx="10149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212224"/>
                </a:solidFill>
              </a:defRPr>
            </a:pPr>
            <a:r>
              <a:t>Keyword: gain knowledge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23944" y="4791456"/>
            <a:ext cx="1234440" cy="566928"/>
          </a:xfrm>
          <a:prstGeom prst="roundRect">
            <a:avLst/>
          </a:prstGeom>
          <a:solidFill>
            <a:srgbClr val="F1E9DC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33672" y="4937760"/>
            <a:ext cx="10149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212224"/>
                </a:solidFill>
              </a:defRPr>
            </a:pPr>
            <a:r>
              <a:t>Clue: understand the world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04688" y="4791456"/>
            <a:ext cx="1234440" cy="566928"/>
          </a:xfrm>
          <a:prstGeom prst="roundRect">
            <a:avLst/>
          </a:prstGeom>
          <a:solidFill>
            <a:srgbClr val="F1E9DC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14416" y="4937760"/>
            <a:ext cx="10149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212224"/>
                </a:solidFill>
              </a:defRPr>
            </a:pPr>
            <a:r>
              <a:t>Example: think deeply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85432" y="4791456"/>
            <a:ext cx="1234440" cy="566928"/>
          </a:xfrm>
          <a:prstGeom prst="roundRect">
            <a:avLst/>
          </a:prstGeom>
          <a:solidFill>
            <a:srgbClr val="F1E9DC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4937760"/>
            <a:ext cx="10149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212224"/>
                </a:solidFill>
              </a:defRPr>
            </a:pPr>
            <a:r>
              <a:t>Use: from different perspectives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4709160"/>
            <a:ext cx="4389120" cy="749808"/>
          </a:xfrm>
          <a:prstGeom prst="roundRect">
            <a:avLst/>
          </a:prstGeom>
          <a:solidFill>
            <a:srgbClr val="D69C51"/>
          </a:solidFill>
          <a:ln>
            <a:solidFill>
              <a:srgbClr val="D69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882896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</a:defRPr>
            </a:pPr>
            <a:r>
              <a:t>Possible Answers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4791456"/>
            <a:ext cx="1234440" cy="566928"/>
          </a:xfrm>
          <a:prstGeom prst="roundRect">
            <a:avLst/>
          </a:prstGeom>
          <a:solidFill>
            <a:srgbClr val="FFF4DD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7" y="4937760"/>
            <a:ext cx="10149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Reading helps us learn new ideas.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64623" y="4791456"/>
            <a:ext cx="1234440" cy="566928"/>
          </a:xfrm>
          <a:prstGeom prst="roundRect">
            <a:avLst/>
          </a:prstGeom>
          <a:solidFill>
            <a:srgbClr val="FFF4DD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4351" y="4937760"/>
            <a:ext cx="10149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Reading also helps us understand people and life better.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Preserve and present the original manuscript page: Key Sentence.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Discussion and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9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Keyword: in the digital 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9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Clue: build empathy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9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Preserve and present the original manuscript page: Discussion and Output.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