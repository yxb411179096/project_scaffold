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914400"/>
            <a:ext cx="813816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915400" y="-137160"/>
            <a:ext cx="2926080" cy="1965960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234440"/>
            <a:ext cx="6217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355F88"/>
                </a:solidFill>
              </a:defRPr>
            </a:pPr>
            <a:r>
              <a:t>Unit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691640"/>
            <a:ext cx="65836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184C79"/>
                </a:solidFill>
              </a:defRPr>
            </a:pPr>
            <a:r>
              <a:t>Mock Regression Reading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429000"/>
            <a:ext cx="6583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 i="0">
                <a:solidFill>
                  <a:srgbClr val="607080"/>
                </a:solidFill>
              </a:defRPr>
            </a:pPr>
            <a:r>
              <a:t>Reading • Senior 1 • PEP Compulsory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06908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Unit 6</a:t>
            </a:r>
          </a:p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Reading and Thinking</a:t>
            </a:r>
          </a:p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Senior 1 | PEP Compulsory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1965960"/>
            <a:ext cx="2468880" cy="12344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2148840"/>
            <a:ext cx="2011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2 minutes</a:t>
            </a:r>
          </a:p>
          <a:p>
            <a:r>
              <a:t>Teacher-student interaction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69280"/>
            <a:ext cx="4023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Open the lesson with a clear topic frame.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91640"/>
            <a:ext cx="2697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190195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Objective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331720"/>
            <a:ext cx="22402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Identify the main idea and key details related to Reading.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691640"/>
            <a:ext cx="2697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0248" y="190195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Objective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2331720"/>
            <a:ext cx="22402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Use reading evidence to answer guided classroom questions.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691640"/>
            <a:ext cx="2697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70648" y="190195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Objective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0648" y="2331720"/>
            <a:ext cx="22402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Give a short spoken or written response with clear support.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Present the measurable objectives from the teaching design.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Lead-in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08760"/>
            <a:ext cx="4663440" cy="3611880"/>
          </a:xfrm>
          <a:prstGeom prst="rect">
            <a:avLst/>
          </a:prstGeom>
          <a:solidFill>
            <a:srgbClr val="E7F0F8"/>
          </a:solidFill>
          <a:ln w="19050">
            <a:solidFill>
              <a:srgbClr val="355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22960" y="1508760"/>
            <a:ext cx="4663440" cy="3611880"/>
          </a:xfrm>
          <a:prstGeom prst="line">
            <a:avLst/>
          </a:prstGeom>
          <a:ln>
            <a:solidFill>
              <a:srgbClr val="355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822960" y="1508760"/>
            <a:ext cx="4663440" cy="3611880"/>
          </a:xfrm>
          <a:prstGeom prst="line">
            <a:avLst/>
          </a:prstGeom>
          <a:ln>
            <a:solidFill>
              <a:srgbClr val="355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51560" y="2011680"/>
            <a:ext cx="4206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355F88"/>
                </a:solidFill>
              </a:defRPr>
            </a:pPr>
            <a:r>
              <a:t>Image Placeholder: Mock Regression Reading / scene / Reading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1508760"/>
            <a:ext cx="53949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783080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 i="0">
                <a:solidFill>
                  <a:srgbClr val="184C79"/>
                </a:solidFill>
              </a:defRPr>
            </a:pPr>
            <a:r>
              <a:t>Lead-in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240280"/>
            <a:ext cx="45720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Look at the topic: Mock Regression Reading.</a:t>
            </a:r>
          </a:p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Think: What do you already know about Reading?</a:t>
            </a:r>
          </a:p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Task: Share one idea with your partner.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57200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355F88"/>
                </a:solidFill>
              </a:defRPr>
            </a:pPr>
            <a:r>
              <a:t>Interaction: Pair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Activate students' background knowledge and interest.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Prediction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08760"/>
            <a:ext cx="4663440" cy="3611880"/>
          </a:xfrm>
          <a:prstGeom prst="rect">
            <a:avLst/>
          </a:prstGeom>
          <a:solidFill>
            <a:srgbClr val="E7F0F8"/>
          </a:solidFill>
          <a:ln w="19050">
            <a:solidFill>
              <a:srgbClr val="355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22960" y="1508760"/>
            <a:ext cx="4663440" cy="3611880"/>
          </a:xfrm>
          <a:prstGeom prst="line">
            <a:avLst/>
          </a:prstGeom>
          <a:ln>
            <a:solidFill>
              <a:srgbClr val="355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822960" y="1508760"/>
            <a:ext cx="4663440" cy="3611880"/>
          </a:xfrm>
          <a:prstGeom prst="line">
            <a:avLst/>
          </a:prstGeom>
          <a:ln>
            <a:solidFill>
              <a:srgbClr val="355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51560" y="2011680"/>
            <a:ext cx="4206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355F88"/>
                </a:solidFill>
              </a:defRPr>
            </a:pPr>
            <a:r>
              <a:t>Image Placeholder: Mock Regression Reading / scene / Reading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1508760"/>
            <a:ext cx="53949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783080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 i="0">
                <a:solidFill>
                  <a:srgbClr val="184C79"/>
                </a:solidFill>
              </a:defRPr>
            </a:pPr>
            <a:r>
              <a:t>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240280"/>
            <a:ext cx="45720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Read the title and key words.</a:t>
            </a:r>
          </a:p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Predict what the text may talk about.</a:t>
            </a:r>
          </a:p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Task: Write one guiding question before reading.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57200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355F88"/>
                </a:solidFill>
              </a:defRPr>
            </a:pPr>
            <a:r>
              <a:t>Interaction: Individual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Guide students to predict content before reading.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Fast Reading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Skim the text for the main idea.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024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Match each paragraph with one short heading.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1636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1636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Task: Check your idea with a partner.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983480"/>
            <a:ext cx="9235440" cy="59436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5148072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202B39"/>
                </a:solidFill>
              </a:defRPr>
            </a:pPr>
            <a:r>
              <a:t>Task Reminder: Complete the classroom task.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Help students read for the main idea.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Careful Reading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Read again and look for key details.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024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Answer the guided questions with evidence.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1636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1636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Task: Underline the sentence that supports your answer.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983480"/>
            <a:ext cx="9235440" cy="59436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5148072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202B39"/>
                </a:solidFill>
              </a:defRPr>
            </a:pPr>
            <a:r>
              <a:t>Task Reminder: Complete the classroom task.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Lead students to find details and evidence.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Vocabulary Focus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783080"/>
            <a:ext cx="2697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33272" y="1938528"/>
            <a:ext cx="658368" cy="347472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9576" y="1993392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90195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Card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" y="2487168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Focus words: main idea, supporting detail, text evidence.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1783080"/>
            <a:ext cx="2697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33672" y="1938528"/>
            <a:ext cx="658368" cy="347472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9976" y="1993392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190195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Card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8536" y="2487168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Match each word with its meaning or function.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9480" y="1783080"/>
            <a:ext cx="2697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34072" y="1938528"/>
            <a:ext cx="658368" cy="347472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0376" y="1993392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190195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Card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88936" y="2487168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Task: Use one expression in a new sentence.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Support comprehension with useful words and phrases.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Language Points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45920"/>
            <a:ext cx="10241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47088"/>
            <a:ext cx="9784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 i="0">
                <a:solidFill>
                  <a:srgbClr val="184C79"/>
                </a:solidFill>
              </a:defRPr>
            </a:pPr>
            <a:r>
              <a:t>Notice one useful sentence pattern from the text.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926080"/>
            <a:ext cx="2514600" cy="21031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3108960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355F88"/>
                </a:solidFill>
              </a:defRPr>
            </a:pPr>
            <a:r>
              <a:t>Point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342900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Try this frame: I think ... because ... about Reading.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2926080"/>
            <a:ext cx="2514600" cy="21031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78807" y="3108960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355F88"/>
                </a:solidFill>
              </a:defRPr>
            </a:pPr>
            <a:r>
              <a:t>Point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78807" y="342900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Task: Complete the frame with your own idea.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95160" y="2926080"/>
            <a:ext cx="2514600" cy="21031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96328" y="3108960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355F88"/>
                </a:solidFill>
              </a:defRPr>
            </a:pPr>
            <a:r>
              <a:t>Point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96328" y="342900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Add one more focus point.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5669280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Highlight reusable sentence patterns and language points.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Group Discussion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2103120"/>
            <a:ext cx="329184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2331720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 i="0">
                <a:solidFill>
                  <a:srgbClr val="184C79"/>
                </a:solidFill>
              </a:defRPr>
            </a:pPr>
            <a:r>
              <a:t>Discuss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27432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Question: What can we learn from Mock Regression Reading?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331720"/>
            <a:ext cx="2651760" cy="16459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514600"/>
            <a:ext cx="2103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How To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8346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202B39"/>
                </a:solidFill>
              </a:defRPr>
            </a:pPr>
            <a:r>
              <a:t>Work in groups and prepare two strong ideas.</a:t>
            </a:r>
          </a:p>
          <a:p>
            <a:pPr>
              <a:spcAft>
                <a:spcPts val="800"/>
              </a:spcAft>
              <a:defRPr sz="1500" b="0" i="0">
                <a:solidFill>
                  <a:srgbClr val="202B39"/>
                </a:solidFill>
              </a:defRPr>
            </a:pPr>
            <a:r>
              <a:t>Task: Choose one speaker for the group report.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331720"/>
            <a:ext cx="2651760" cy="16459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514600"/>
            <a:ext cx="2103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8346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202B39"/>
                </a:solidFill>
              </a:defRPr>
            </a:pPr>
            <a:r>
              <a:t>Teacher focus: Keep tasks clear.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57600" y="3154680"/>
            <a:ext cx="594360" cy="0"/>
          </a:xfrm>
          <a:prstGeom prst="line">
            <a:avLst/>
          </a:prstGeom>
          <a:ln>
            <a:solidFill>
              <a:srgbClr val="EBA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607808" y="3154680"/>
            <a:ext cx="484632" cy="0"/>
          </a:xfrm>
          <a:prstGeom prst="line">
            <a:avLst/>
          </a:prstGeom>
          <a:ln>
            <a:solidFill>
              <a:srgbClr val="EBA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Turn reading input into classroom discussion output.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331720"/>
            <a:ext cx="292608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0" y="2697480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 i="0">
                <a:solidFill>
                  <a:srgbClr val="184C79"/>
                </a:solidFill>
              </a:defRPr>
            </a:pPr>
            <a:r>
              <a:t>Today we worked on Mock Regression Reading.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1645920"/>
            <a:ext cx="2560320" cy="841248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6152" y="187452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 i="0">
                <a:solidFill>
                  <a:srgbClr val="202B39"/>
                </a:solidFill>
              </a:defRPr>
            </a:pPr>
            <a:r>
              <a:t>Review the key language and the main classroom task.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11880" y="2066544"/>
            <a:ext cx="777240" cy="905256"/>
          </a:xfrm>
          <a:prstGeom prst="line">
            <a:avLst/>
          </a:prstGeom>
          <a:ln>
            <a:solidFill>
              <a:srgbClr val="EBA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183879" y="1645920"/>
            <a:ext cx="2560320" cy="841248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1" y="187452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 i="0">
                <a:solidFill>
                  <a:srgbClr val="202B39"/>
                </a:solidFill>
              </a:defRPr>
            </a:pPr>
            <a:r>
              <a:t>Task: Finish the sentence 'Today I can now...'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7315200" y="2066544"/>
            <a:ext cx="868679" cy="905256"/>
          </a:xfrm>
          <a:prstGeom prst="line">
            <a:avLst/>
          </a:prstGeom>
          <a:ln>
            <a:solidFill>
              <a:srgbClr val="EBA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Lead-in, reading tasks, language support, discussion, summary, homework.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Homework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91640"/>
            <a:ext cx="46634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193852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 i="0">
                <a:solidFill>
                  <a:srgbClr val="184C79"/>
                </a:solidFill>
              </a:defRPr>
            </a:pPr>
            <a:r>
              <a:t>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359152"/>
            <a:ext cx="41148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Review today's key language.</a:t>
            </a:r>
          </a:p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Finish or improve a short reading response.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691640"/>
            <a:ext cx="4663440" cy="2926080"/>
          </a:xfrm>
          <a:prstGeom prst="roundRect">
            <a:avLst/>
          </a:prstGeom>
          <a:solidFill>
            <a:srgbClr val="E7F0F8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1928" y="193852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 i="0">
                <a:solidFill>
                  <a:srgbClr val="184C79"/>
                </a:solidFill>
              </a:defRPr>
            </a:pPr>
            <a:r>
              <a:t>Extension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1928" y="2359152"/>
            <a:ext cx="41148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Task: Bring one question to the next class.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25880" y="4983480"/>
            <a:ext cx="9418320" cy="594360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5157216"/>
            <a:ext cx="8961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</a:defRPr>
            </a:pPr>
            <a:r>
              <a:t>Reminder: Bring one question to the next class.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Assign focused follow-up work after class.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Blackboard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572768"/>
            <a:ext cx="10332720" cy="4160520"/>
          </a:xfrm>
          <a:prstGeom prst="rect">
            <a:avLst/>
          </a:prstGeom>
          <a:solidFill>
            <a:srgbClr val="284934"/>
          </a:solidFill>
          <a:ln w="25400">
            <a:solidFill>
              <a:srgbClr val="1C32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810512"/>
            <a:ext cx="9692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 i="0">
                <a:solidFill>
                  <a:srgbClr val="F7FAF4"/>
                </a:solidFill>
              </a:defRPr>
            </a:pPr>
            <a:r>
              <a:t>Mock Regression Reading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35040" y="2331720"/>
            <a:ext cx="0" cy="2971800"/>
          </a:xfrm>
          <a:prstGeom prst="line">
            <a:avLst/>
          </a:prstGeom>
          <a:ln>
            <a:solidFill>
              <a:srgbClr val="E1E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70432" y="246888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E9F1E4"/>
                </a:solidFill>
              </a:defRPr>
            </a:pPr>
            <a:r>
              <a:t>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46888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E9F1E4"/>
                </a:solidFill>
              </a:defRPr>
            </a:pPr>
            <a:r>
              <a:t>Task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2852928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F5F7F2"/>
                </a:solidFill>
              </a:defRPr>
            </a:pPr>
            <a:r>
              <a:t>Topic -&gt; Evidence -&gt; Language -&gt; Output</a:t>
            </a:r>
          </a:p>
          <a:p>
            <a:pPr>
              <a:spcAft>
                <a:spcPts val="800"/>
              </a:spcAft>
              <a:defRPr sz="1700" b="0" i="0">
                <a:solidFill>
                  <a:srgbClr val="F5F7F2"/>
                </a:solidFill>
              </a:defRPr>
            </a:pPr>
            <a:r>
              <a:t>Useful frame: I think ... because 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852928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F5F7F2"/>
                </a:solidFill>
              </a:defRPr>
            </a:pPr>
            <a:r>
              <a:t>Task reminder</a:t>
            </a:r>
          </a:p>
          <a:p>
            <a:pPr>
              <a:spcAft>
                <a:spcPts val="800"/>
              </a:spcAft>
              <a:defRPr sz="1700" b="0" i="0">
                <a:solidFill>
                  <a:srgbClr val="F5F7F2"/>
                </a:solidFill>
              </a:defRPr>
            </a:pPr>
            <a:r>
              <a:t>Output 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5669280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Present a concise board plan for the lesson.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