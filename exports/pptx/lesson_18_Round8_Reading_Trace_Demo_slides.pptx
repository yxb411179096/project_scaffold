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85800" y="914400"/>
            <a:ext cx="8138160" cy="3931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915400" y="-137160"/>
            <a:ext cx="2926080" cy="1965960"/>
          </a:xfrm>
          <a:prstGeom prst="roundRect">
            <a:avLst/>
          </a:prstGeom>
          <a:solidFill>
            <a:srgbClr val="EBA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51560" y="1234440"/>
            <a:ext cx="62179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 i="0">
                <a:solidFill>
                  <a:srgbClr val="355F88"/>
                </a:solidFill>
              </a:defRPr>
            </a:pPr>
            <a:r>
              <a:t>Unit 2 Travelling Around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1691640"/>
            <a:ext cx="6583680" cy="1508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800" b="1" i="0">
                <a:solidFill>
                  <a:srgbClr val="184C79"/>
                </a:solidFill>
              </a:defRPr>
            </a:pPr>
            <a:r>
              <a:t>Round8 Reading Trace Demo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3429000"/>
            <a:ext cx="65836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0" i="0">
                <a:solidFill>
                  <a:srgbClr val="607080"/>
                </a:solidFill>
              </a:defRPr>
            </a:pPr>
            <a:r>
              <a:t>Reading • 高一 • 人教版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4069080"/>
            <a:ext cx="6400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0" i="0">
                <a:solidFill>
                  <a:srgbClr val="202B39"/>
                </a:solidFill>
              </a:defRPr>
            </a:pPr>
            <a:r>
              <a:t>Unit 2 Travelling Around</a:t>
            </a:r>
          </a:p>
          <a:p>
            <a:pPr>
              <a:spcAft>
                <a:spcPts val="800"/>
              </a:spcAft>
              <a:defRPr sz="1700" b="0" i="0">
                <a:solidFill>
                  <a:srgbClr val="202B39"/>
                </a:solidFill>
              </a:defRPr>
            </a:pPr>
            <a:r>
              <a:t>Reading and Thinking</a:t>
            </a:r>
          </a:p>
          <a:p>
            <a:pPr>
              <a:spcAft>
                <a:spcPts val="800"/>
              </a:spcAft>
              <a:defRPr sz="1700" b="0" i="0">
                <a:solidFill>
                  <a:srgbClr val="202B39"/>
                </a:solidFill>
              </a:defRPr>
            </a:pPr>
            <a:r>
              <a:t>高一 | 人教版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503920" y="1965960"/>
            <a:ext cx="2468880" cy="1234440"/>
          </a:xfrm>
          <a:prstGeom prst="roundRect">
            <a:avLst/>
          </a:prstGeom>
          <a:solidFill>
            <a:srgbClr val="184C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32520" y="2148840"/>
            <a:ext cx="20116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 i="0">
                <a:solidFill>
                  <a:srgbClr val="FFFFFF"/>
                </a:solidFill>
              </a:defRPr>
            </a:pPr>
            <a:r>
              <a:t>2 minutes</a:t>
            </a:r>
          </a:p>
          <a:p>
            <a:r>
              <a:t>Teacher-student interaction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669280"/>
            <a:ext cx="402336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 i="0">
                <a:solidFill>
                  <a:srgbClr val="607080"/>
                </a:solidFill>
              </a:defRPr>
            </a:pPr>
            <a:r>
              <a:t>Purpose: Open the lesson with a clear topic frame.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835640" y="6199632"/>
            <a:ext cx="713232" cy="301752"/>
          </a:xfrm>
          <a:prstGeom prst="roundRect">
            <a:avLst/>
          </a:prstGeom>
          <a:solidFill>
            <a:srgbClr val="E7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36224" y="6245352"/>
            <a:ext cx="512064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 i="0">
                <a:solidFill>
                  <a:srgbClr val="184C79"/>
                </a:solidFill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20040"/>
            <a:ext cx="11155680" cy="777240"/>
          </a:xfrm>
          <a:prstGeom prst="roundRect">
            <a:avLst/>
          </a:prstGeom>
          <a:solidFill>
            <a:srgbClr val="184C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512064"/>
            <a:ext cx="8138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 i="0">
                <a:solidFill>
                  <a:srgbClr val="FFFFFF"/>
                </a:solidFill>
              </a:defRPr>
            </a:pPr>
            <a:r>
              <a:t>Learning Objectives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1691640"/>
            <a:ext cx="2697480" cy="3246120"/>
          </a:xfrm>
          <a:prstGeom prst="roundRect">
            <a:avLst/>
          </a:prstGeom>
          <a:solidFill>
            <a:srgbClr val="FFFFFF"/>
          </a:solidFill>
          <a:ln>
            <a:solidFill>
              <a:srgbClr val="E7F0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9848" y="1901952"/>
            <a:ext cx="2286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 i="0">
                <a:solidFill>
                  <a:srgbClr val="184C79"/>
                </a:solidFill>
              </a:defRPr>
            </a:pPr>
            <a:r>
              <a:t>Objective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" y="2331720"/>
            <a:ext cx="224028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0" i="0">
                <a:solidFill>
                  <a:srgbClr val="202B39"/>
                </a:solidFill>
              </a:defRPr>
            </a:pPr>
            <a:r>
              <a:t>Identify the main idea and key details related to Demo.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069080" y="1691640"/>
            <a:ext cx="2697480" cy="3246120"/>
          </a:xfrm>
          <a:prstGeom prst="roundRect">
            <a:avLst/>
          </a:prstGeom>
          <a:solidFill>
            <a:srgbClr val="FFFFFF"/>
          </a:solidFill>
          <a:ln>
            <a:solidFill>
              <a:srgbClr val="E7F0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70248" y="1901952"/>
            <a:ext cx="2286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 i="0">
                <a:solidFill>
                  <a:srgbClr val="184C79"/>
                </a:solidFill>
              </a:defRPr>
            </a:pPr>
            <a:r>
              <a:t>Objective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70248" y="2331720"/>
            <a:ext cx="224028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0" i="0">
                <a:solidFill>
                  <a:srgbClr val="202B39"/>
                </a:solidFill>
              </a:defRPr>
            </a:pPr>
            <a:r>
              <a:t>Use reading evidence to answer guided classroom questions.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269480" y="1691640"/>
            <a:ext cx="2697480" cy="3246120"/>
          </a:xfrm>
          <a:prstGeom prst="roundRect">
            <a:avLst/>
          </a:prstGeom>
          <a:solidFill>
            <a:srgbClr val="FFFFFF"/>
          </a:solidFill>
          <a:ln>
            <a:solidFill>
              <a:srgbClr val="E7F0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70648" y="1901952"/>
            <a:ext cx="2286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 i="0">
                <a:solidFill>
                  <a:srgbClr val="184C79"/>
                </a:solidFill>
              </a:defRPr>
            </a:pPr>
            <a:r>
              <a:t>Objective 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70648" y="2331720"/>
            <a:ext cx="2240280" cy="2148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0" i="0">
                <a:solidFill>
                  <a:srgbClr val="202B39"/>
                </a:solidFill>
              </a:defRPr>
            </a:pPr>
            <a:r>
              <a:t>Give a short spoken or written response with clear support.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5650992"/>
            <a:ext cx="9326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 i="0">
                <a:solidFill>
                  <a:srgbClr val="607080"/>
                </a:solidFill>
              </a:defRPr>
            </a:pPr>
            <a:r>
              <a:t>Purpose: Present the measurable objectives from the teaching design.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835640" y="6199632"/>
            <a:ext cx="713232" cy="301752"/>
          </a:xfrm>
          <a:prstGeom prst="roundRect">
            <a:avLst/>
          </a:prstGeom>
          <a:solidFill>
            <a:srgbClr val="E7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36224" y="6245352"/>
            <a:ext cx="512064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 i="0">
                <a:solidFill>
                  <a:srgbClr val="184C79"/>
                </a:solidFill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20040"/>
            <a:ext cx="11155680" cy="777240"/>
          </a:xfrm>
          <a:prstGeom prst="roundRect">
            <a:avLst/>
          </a:prstGeom>
          <a:solidFill>
            <a:srgbClr val="184C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512064"/>
            <a:ext cx="8138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 i="0">
                <a:solidFill>
                  <a:srgbClr val="FFFFFF"/>
                </a:solidFill>
              </a:defRPr>
            </a:pPr>
            <a:r>
              <a:t>Lead-in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08760"/>
            <a:ext cx="4663440" cy="3611880"/>
          </a:xfrm>
          <a:prstGeom prst="rect">
            <a:avLst/>
          </a:prstGeom>
          <a:solidFill>
            <a:srgbClr val="E7F0F8"/>
          </a:solidFill>
          <a:ln w="19050">
            <a:solidFill>
              <a:srgbClr val="355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822960" y="1508760"/>
            <a:ext cx="4663440" cy="3611880"/>
          </a:xfrm>
          <a:prstGeom prst="line">
            <a:avLst/>
          </a:prstGeom>
          <a:ln>
            <a:solidFill>
              <a:srgbClr val="355F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H="1">
            <a:off x="822960" y="1508760"/>
            <a:ext cx="4663440" cy="3611880"/>
          </a:xfrm>
          <a:prstGeom prst="line">
            <a:avLst/>
          </a:prstGeom>
          <a:ln>
            <a:solidFill>
              <a:srgbClr val="355F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1051560" y="2011680"/>
            <a:ext cx="420624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 i="0">
                <a:solidFill>
                  <a:srgbClr val="355F88"/>
                </a:solidFill>
              </a:defRPr>
            </a:pPr>
            <a:r>
              <a:t>Image Placeholder: Round8 Reading Trace Demo / scene / Demo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06440" y="1508760"/>
            <a:ext cx="5394960" cy="3611880"/>
          </a:xfrm>
          <a:prstGeom prst="roundRect">
            <a:avLst/>
          </a:prstGeom>
          <a:solidFill>
            <a:srgbClr val="FFFFFF"/>
          </a:solidFill>
          <a:ln>
            <a:solidFill>
              <a:srgbClr val="E7F0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26480" y="1783080"/>
            <a:ext cx="45720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 b="1" i="0">
                <a:solidFill>
                  <a:srgbClr val="184C79"/>
                </a:solidFill>
              </a:defRPr>
            </a:pPr>
            <a:r>
              <a:t>Lead-in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0" y="2240280"/>
            <a:ext cx="457200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0" i="0">
                <a:solidFill>
                  <a:srgbClr val="202B39"/>
                </a:solidFill>
              </a:defRPr>
            </a:pPr>
            <a:r>
              <a:t>Look at the topic: Round8 Reading Trace Demo.</a:t>
            </a:r>
          </a:p>
          <a:p>
            <a:pPr>
              <a:spcAft>
                <a:spcPts val="800"/>
              </a:spcAft>
              <a:defRPr sz="1800" b="0" i="0">
                <a:solidFill>
                  <a:srgbClr val="202B39"/>
                </a:solidFill>
              </a:defRPr>
            </a:pPr>
            <a:r>
              <a:t>Think: What do you already know about Demo?</a:t>
            </a:r>
          </a:p>
          <a:p>
            <a:pPr>
              <a:spcAft>
                <a:spcPts val="800"/>
              </a:spcAft>
              <a:defRPr sz="1800" b="0" i="0">
                <a:solidFill>
                  <a:srgbClr val="202B39"/>
                </a:solidFill>
              </a:defRPr>
            </a:pPr>
            <a:r>
              <a:t>Task: Share one idea with your partner.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0" y="4572000"/>
            <a:ext cx="44805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 i="0">
                <a:solidFill>
                  <a:srgbClr val="355F88"/>
                </a:solidFill>
              </a:defRPr>
            </a:pPr>
            <a:r>
              <a:t>Interaction: Pair work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32520" y="5074920"/>
            <a:ext cx="1920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 i="0">
                <a:solidFill>
                  <a:srgbClr val="607080"/>
                </a:solidFill>
              </a:defRPr>
            </a:pPr>
            <a:r>
              <a:t>Purpose: Activate students' background knowledge and interest.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835640" y="6199632"/>
            <a:ext cx="713232" cy="301752"/>
          </a:xfrm>
          <a:prstGeom prst="roundRect">
            <a:avLst/>
          </a:prstGeom>
          <a:solidFill>
            <a:srgbClr val="E7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36224" y="6245352"/>
            <a:ext cx="512064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 i="0">
                <a:solidFill>
                  <a:srgbClr val="184C79"/>
                </a:solidFill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20040"/>
            <a:ext cx="11155680" cy="777240"/>
          </a:xfrm>
          <a:prstGeom prst="roundRect">
            <a:avLst/>
          </a:prstGeom>
          <a:solidFill>
            <a:srgbClr val="184C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512064"/>
            <a:ext cx="8138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 i="0">
                <a:solidFill>
                  <a:srgbClr val="FFFFFF"/>
                </a:solidFill>
              </a:defRPr>
            </a:pPr>
            <a:r>
              <a:t>Prediction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508760"/>
            <a:ext cx="4663440" cy="3611880"/>
          </a:xfrm>
          <a:prstGeom prst="rect">
            <a:avLst/>
          </a:prstGeom>
          <a:solidFill>
            <a:srgbClr val="E7F0F8"/>
          </a:solidFill>
          <a:ln w="19050">
            <a:solidFill>
              <a:srgbClr val="355F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822960" y="1508760"/>
            <a:ext cx="4663440" cy="3611880"/>
          </a:xfrm>
          <a:prstGeom prst="line">
            <a:avLst/>
          </a:prstGeom>
          <a:ln>
            <a:solidFill>
              <a:srgbClr val="355F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H="1">
            <a:off x="822960" y="1508760"/>
            <a:ext cx="4663440" cy="3611880"/>
          </a:xfrm>
          <a:prstGeom prst="line">
            <a:avLst/>
          </a:prstGeom>
          <a:ln>
            <a:solidFill>
              <a:srgbClr val="355F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1051560" y="2011680"/>
            <a:ext cx="420624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500" b="1" i="0">
                <a:solidFill>
                  <a:srgbClr val="355F88"/>
                </a:solidFill>
              </a:defRPr>
            </a:pPr>
            <a:r>
              <a:t>Image Placeholder: Round8 Reading Trace Demo / scene / Demo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806440" y="1508760"/>
            <a:ext cx="5394960" cy="3611880"/>
          </a:xfrm>
          <a:prstGeom prst="roundRect">
            <a:avLst/>
          </a:prstGeom>
          <a:solidFill>
            <a:srgbClr val="FFFFFF"/>
          </a:solidFill>
          <a:ln>
            <a:solidFill>
              <a:srgbClr val="E7F0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26480" y="1783080"/>
            <a:ext cx="4572000" cy="34747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000" b="1" i="0">
                <a:solidFill>
                  <a:srgbClr val="184C79"/>
                </a:solidFill>
              </a:defRPr>
            </a:pPr>
            <a:r>
              <a:t>Prediction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0" y="2240280"/>
            <a:ext cx="457200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800" b="0" i="0">
                <a:solidFill>
                  <a:srgbClr val="202B39"/>
                </a:solidFill>
              </a:defRPr>
            </a:pPr>
            <a:r>
              <a:t>Read the title and key words.</a:t>
            </a:r>
          </a:p>
          <a:p>
            <a:pPr>
              <a:spcAft>
                <a:spcPts val="800"/>
              </a:spcAft>
              <a:defRPr sz="1800" b="0" i="0">
                <a:solidFill>
                  <a:srgbClr val="202B39"/>
                </a:solidFill>
              </a:defRPr>
            </a:pPr>
            <a:r>
              <a:t>Predict what the text may talk about.</a:t>
            </a:r>
          </a:p>
          <a:p>
            <a:pPr>
              <a:spcAft>
                <a:spcPts val="800"/>
              </a:spcAft>
              <a:defRPr sz="1800" b="0" i="0">
                <a:solidFill>
                  <a:srgbClr val="202B39"/>
                </a:solidFill>
              </a:defRPr>
            </a:pPr>
            <a:r>
              <a:t>Task: Write one guiding question before reading.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0" y="4572000"/>
            <a:ext cx="44805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 i="0">
                <a:solidFill>
                  <a:srgbClr val="355F88"/>
                </a:solidFill>
              </a:defRPr>
            </a:pPr>
            <a:r>
              <a:t>Interaction: Individual work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32520" y="5074920"/>
            <a:ext cx="1920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 i="0">
                <a:solidFill>
                  <a:srgbClr val="607080"/>
                </a:solidFill>
              </a:defRPr>
            </a:pPr>
            <a:r>
              <a:t>Purpose: Guide students to predict content before reading.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835640" y="6199632"/>
            <a:ext cx="713232" cy="301752"/>
          </a:xfrm>
          <a:prstGeom prst="roundRect">
            <a:avLst/>
          </a:prstGeom>
          <a:solidFill>
            <a:srgbClr val="E7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36224" y="6245352"/>
            <a:ext cx="512064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 i="0">
                <a:solidFill>
                  <a:srgbClr val="184C79"/>
                </a:solidFill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20040"/>
            <a:ext cx="11155680" cy="777240"/>
          </a:xfrm>
          <a:prstGeom prst="roundRect">
            <a:avLst/>
          </a:prstGeom>
          <a:solidFill>
            <a:srgbClr val="184C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512064"/>
            <a:ext cx="8138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 i="0">
                <a:solidFill>
                  <a:srgbClr val="FFFFFF"/>
                </a:solidFill>
              </a:defRPr>
            </a:pPr>
            <a:r>
              <a:t>Fast Reading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783080"/>
            <a:ext cx="2697480" cy="2880360"/>
          </a:xfrm>
          <a:prstGeom prst="roundRect">
            <a:avLst/>
          </a:prstGeom>
          <a:solidFill>
            <a:srgbClr val="FFFFFF"/>
          </a:solidFill>
          <a:ln>
            <a:solidFill>
              <a:srgbClr val="E7F0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24128" y="1993392"/>
            <a:ext cx="21945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 i="0">
                <a:solidFill>
                  <a:srgbClr val="184C79"/>
                </a:solidFill>
              </a:defRPr>
            </a:pPr>
            <a:r>
              <a:t>Step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" y="2331720"/>
            <a:ext cx="22402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0" i="0">
                <a:solidFill>
                  <a:srgbClr val="202B39"/>
                </a:solidFill>
              </a:defRPr>
            </a:pPr>
            <a:r>
              <a:t>Skim the text for the main idea.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069080" y="1783080"/>
            <a:ext cx="2697480" cy="2880360"/>
          </a:xfrm>
          <a:prstGeom prst="roundRect">
            <a:avLst/>
          </a:prstGeom>
          <a:solidFill>
            <a:srgbClr val="FFFFFF"/>
          </a:solidFill>
          <a:ln>
            <a:solidFill>
              <a:srgbClr val="E7F0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70248" y="1993392"/>
            <a:ext cx="21945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 i="0">
                <a:solidFill>
                  <a:srgbClr val="184C79"/>
                </a:solidFill>
              </a:defRPr>
            </a:pPr>
            <a:r>
              <a:t>Step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70248" y="2331720"/>
            <a:ext cx="22402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0" i="0">
                <a:solidFill>
                  <a:srgbClr val="202B39"/>
                </a:solidFill>
              </a:defRPr>
            </a:pPr>
            <a:r>
              <a:t>Match each paragraph with one short heading.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0" y="1783080"/>
            <a:ext cx="2697480" cy="2880360"/>
          </a:xfrm>
          <a:prstGeom prst="roundRect">
            <a:avLst/>
          </a:prstGeom>
          <a:solidFill>
            <a:srgbClr val="FFFFFF"/>
          </a:solidFill>
          <a:ln>
            <a:solidFill>
              <a:srgbClr val="E7F0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16368" y="1993392"/>
            <a:ext cx="21945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 i="0">
                <a:solidFill>
                  <a:srgbClr val="184C79"/>
                </a:solidFill>
              </a:defRPr>
            </a:pPr>
            <a:r>
              <a:t>Step 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16368" y="2331720"/>
            <a:ext cx="22402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0" i="0">
                <a:solidFill>
                  <a:srgbClr val="202B39"/>
                </a:solidFill>
              </a:defRPr>
            </a:pPr>
            <a:r>
              <a:t>Task: Check your idea with a partner.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8680" y="4983480"/>
            <a:ext cx="9235440" cy="594360"/>
          </a:xfrm>
          <a:prstGeom prst="roundRect">
            <a:avLst/>
          </a:prstGeom>
          <a:solidFill>
            <a:srgbClr val="E7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78992" y="5148072"/>
            <a:ext cx="86868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 i="0">
                <a:solidFill>
                  <a:srgbClr val="202B39"/>
                </a:solidFill>
              </a:defRPr>
            </a:pPr>
            <a:r>
              <a:t>Task Reminder: Complete the classroom task.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32520" y="5074920"/>
            <a:ext cx="1920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 i="0">
                <a:solidFill>
                  <a:srgbClr val="607080"/>
                </a:solidFill>
              </a:defRPr>
            </a:pPr>
            <a:r>
              <a:t>Purpose: Help students read for the main idea.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835640" y="6199632"/>
            <a:ext cx="713232" cy="301752"/>
          </a:xfrm>
          <a:prstGeom prst="roundRect">
            <a:avLst/>
          </a:prstGeom>
          <a:solidFill>
            <a:srgbClr val="E7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36224" y="6245352"/>
            <a:ext cx="512064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 i="0">
                <a:solidFill>
                  <a:srgbClr val="184C79"/>
                </a:solidFill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20040"/>
            <a:ext cx="11155680" cy="777240"/>
          </a:xfrm>
          <a:prstGeom prst="roundRect">
            <a:avLst/>
          </a:prstGeom>
          <a:solidFill>
            <a:srgbClr val="184C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512064"/>
            <a:ext cx="8138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 i="0">
                <a:solidFill>
                  <a:srgbClr val="FFFFFF"/>
                </a:solidFill>
              </a:defRPr>
            </a:pPr>
            <a:r>
              <a:t>Careful Reading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783080"/>
            <a:ext cx="2697480" cy="2880360"/>
          </a:xfrm>
          <a:prstGeom prst="roundRect">
            <a:avLst/>
          </a:prstGeom>
          <a:solidFill>
            <a:srgbClr val="FFFFFF"/>
          </a:solidFill>
          <a:ln>
            <a:solidFill>
              <a:srgbClr val="E7F0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24128" y="1993392"/>
            <a:ext cx="21945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 i="0">
                <a:solidFill>
                  <a:srgbClr val="184C79"/>
                </a:solidFill>
              </a:defRPr>
            </a:pPr>
            <a:r>
              <a:t>Step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" y="2331720"/>
            <a:ext cx="22402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0" i="0">
                <a:solidFill>
                  <a:srgbClr val="202B39"/>
                </a:solidFill>
              </a:defRPr>
            </a:pPr>
            <a:r>
              <a:t>Read again and look for key details.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069080" y="1783080"/>
            <a:ext cx="2697480" cy="2880360"/>
          </a:xfrm>
          <a:prstGeom prst="roundRect">
            <a:avLst/>
          </a:prstGeom>
          <a:solidFill>
            <a:srgbClr val="FFFFFF"/>
          </a:solidFill>
          <a:ln>
            <a:solidFill>
              <a:srgbClr val="E7F0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70248" y="1993392"/>
            <a:ext cx="21945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 i="0">
                <a:solidFill>
                  <a:srgbClr val="184C79"/>
                </a:solidFill>
              </a:defRPr>
            </a:pPr>
            <a:r>
              <a:t>Step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70248" y="2331720"/>
            <a:ext cx="22402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0" i="0">
                <a:solidFill>
                  <a:srgbClr val="202B39"/>
                </a:solidFill>
              </a:defRPr>
            </a:pPr>
            <a:r>
              <a:t>Answer the guided questions with evidence.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0" y="1783080"/>
            <a:ext cx="2697480" cy="2880360"/>
          </a:xfrm>
          <a:prstGeom prst="roundRect">
            <a:avLst/>
          </a:prstGeom>
          <a:solidFill>
            <a:srgbClr val="FFFFFF"/>
          </a:solidFill>
          <a:ln>
            <a:solidFill>
              <a:srgbClr val="E7F0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16368" y="1993392"/>
            <a:ext cx="219456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 i="0">
                <a:solidFill>
                  <a:srgbClr val="184C79"/>
                </a:solidFill>
              </a:defRPr>
            </a:pPr>
            <a:r>
              <a:t>Step 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16368" y="2331720"/>
            <a:ext cx="22402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0" i="0">
                <a:solidFill>
                  <a:srgbClr val="202B39"/>
                </a:solidFill>
              </a:defRPr>
            </a:pPr>
            <a:r>
              <a:t>Task: Underline the sentence that supports your answer.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68680" y="4983480"/>
            <a:ext cx="9235440" cy="594360"/>
          </a:xfrm>
          <a:prstGeom prst="roundRect">
            <a:avLst/>
          </a:prstGeom>
          <a:solidFill>
            <a:srgbClr val="E7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78992" y="5148072"/>
            <a:ext cx="86868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 i="0">
                <a:solidFill>
                  <a:srgbClr val="202B39"/>
                </a:solidFill>
              </a:defRPr>
            </a:pPr>
            <a:r>
              <a:t>Task Reminder: Complete the classroom task.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32520" y="5074920"/>
            <a:ext cx="1920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 i="0">
                <a:solidFill>
                  <a:srgbClr val="607080"/>
                </a:solidFill>
              </a:defRPr>
            </a:pPr>
            <a:r>
              <a:t>Purpose: Lead students to find details and evidence.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835640" y="6199632"/>
            <a:ext cx="713232" cy="301752"/>
          </a:xfrm>
          <a:prstGeom prst="roundRect">
            <a:avLst/>
          </a:prstGeom>
          <a:solidFill>
            <a:srgbClr val="E7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36224" y="6245352"/>
            <a:ext cx="512064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 i="0">
                <a:solidFill>
                  <a:srgbClr val="184C79"/>
                </a:solidFill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20040"/>
            <a:ext cx="11155680" cy="777240"/>
          </a:xfrm>
          <a:prstGeom prst="roundRect">
            <a:avLst/>
          </a:prstGeom>
          <a:solidFill>
            <a:srgbClr val="184C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512064"/>
            <a:ext cx="8138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 i="0">
                <a:solidFill>
                  <a:srgbClr val="FFFFFF"/>
                </a:solidFill>
              </a:defRPr>
            </a:pPr>
            <a:r>
              <a:t>Vocabulary Focus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1783080"/>
            <a:ext cx="269748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EBA5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33272" y="1938528"/>
            <a:ext cx="658368" cy="347472"/>
          </a:xfrm>
          <a:prstGeom prst="roundRect">
            <a:avLst/>
          </a:prstGeom>
          <a:solidFill>
            <a:srgbClr val="EBA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79576" y="1993392"/>
            <a:ext cx="3657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 i="0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83080" y="1901952"/>
            <a:ext cx="1600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 i="0">
                <a:solidFill>
                  <a:srgbClr val="184C79"/>
                </a:solidFill>
              </a:defRPr>
            </a:pPr>
            <a:r>
              <a:t>Card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8136" y="2487168"/>
            <a:ext cx="219456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0" i="0">
                <a:solidFill>
                  <a:srgbClr val="202B39"/>
                </a:solidFill>
              </a:defRPr>
            </a:pPr>
            <a:r>
              <a:t>Focus words: main idea, supporting detail, text evidence.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069080" y="1783080"/>
            <a:ext cx="269748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EBA5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233672" y="1938528"/>
            <a:ext cx="658368" cy="347472"/>
          </a:xfrm>
          <a:prstGeom prst="roundRect">
            <a:avLst/>
          </a:prstGeom>
          <a:solidFill>
            <a:srgbClr val="EBA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79976" y="1993392"/>
            <a:ext cx="3657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 i="0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83480" y="1901952"/>
            <a:ext cx="1600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 i="0">
                <a:solidFill>
                  <a:srgbClr val="184C79"/>
                </a:solidFill>
              </a:defRPr>
            </a:pPr>
            <a:r>
              <a:t>Card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88536" y="2487168"/>
            <a:ext cx="219456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0" i="0">
                <a:solidFill>
                  <a:srgbClr val="202B39"/>
                </a:solidFill>
              </a:defRPr>
            </a:pPr>
            <a:r>
              <a:t>Match each word with its meaning or function.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269480" y="1783080"/>
            <a:ext cx="2697480" cy="3383280"/>
          </a:xfrm>
          <a:prstGeom prst="roundRect">
            <a:avLst/>
          </a:prstGeom>
          <a:solidFill>
            <a:srgbClr val="FFFFFF"/>
          </a:solidFill>
          <a:ln>
            <a:solidFill>
              <a:srgbClr val="EBA5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434072" y="1938528"/>
            <a:ext cx="658368" cy="347472"/>
          </a:xfrm>
          <a:prstGeom prst="roundRect">
            <a:avLst/>
          </a:prstGeom>
          <a:solidFill>
            <a:srgbClr val="EBA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80376" y="1993392"/>
            <a:ext cx="3657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200" b="1" i="0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83880" y="1901952"/>
            <a:ext cx="1600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500" b="1" i="0">
                <a:solidFill>
                  <a:srgbClr val="184C79"/>
                </a:solidFill>
              </a:defRPr>
            </a:pPr>
            <a:r>
              <a:t>Card 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88936" y="2487168"/>
            <a:ext cx="2194560" cy="1783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0" i="0">
                <a:solidFill>
                  <a:srgbClr val="202B39"/>
                </a:solidFill>
              </a:defRPr>
            </a:pPr>
            <a:r>
              <a:t>Task: Use one expression in a new sentence.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5650992"/>
            <a:ext cx="9326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 i="0">
                <a:solidFill>
                  <a:srgbClr val="607080"/>
                </a:solidFill>
              </a:defRPr>
            </a:pPr>
            <a:r>
              <a:t>Purpose: Support comprehension with useful words and phrases.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835640" y="6199632"/>
            <a:ext cx="713232" cy="301752"/>
          </a:xfrm>
          <a:prstGeom prst="roundRect">
            <a:avLst/>
          </a:prstGeom>
          <a:solidFill>
            <a:srgbClr val="E7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936224" y="6245352"/>
            <a:ext cx="512064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 i="0">
                <a:solidFill>
                  <a:srgbClr val="184C79"/>
                </a:solidFill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20040"/>
            <a:ext cx="11155680" cy="777240"/>
          </a:xfrm>
          <a:prstGeom prst="roundRect">
            <a:avLst/>
          </a:prstGeom>
          <a:solidFill>
            <a:srgbClr val="184C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512064"/>
            <a:ext cx="8138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 i="0">
                <a:solidFill>
                  <a:srgbClr val="FFFFFF"/>
                </a:solidFill>
              </a:defRPr>
            </a:pPr>
            <a:r>
              <a:t>Language Points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1645920"/>
            <a:ext cx="1024128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E7F0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847088"/>
            <a:ext cx="97840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000" b="1" i="0">
                <a:solidFill>
                  <a:srgbClr val="184C79"/>
                </a:solidFill>
              </a:defRPr>
            </a:pPr>
            <a:r>
              <a:t>Notice one useful sentence pattern from the text.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60120" y="2926080"/>
            <a:ext cx="2514600" cy="2103120"/>
          </a:xfrm>
          <a:prstGeom prst="roundRect">
            <a:avLst/>
          </a:prstGeom>
          <a:solidFill>
            <a:srgbClr val="E7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61288" y="3108960"/>
            <a:ext cx="20574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 i="0">
                <a:solidFill>
                  <a:srgbClr val="355F88"/>
                </a:solidFill>
              </a:defRPr>
            </a:pPr>
            <a:r>
              <a:t>Point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61288" y="3429000"/>
            <a:ext cx="1965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0" i="0">
                <a:solidFill>
                  <a:srgbClr val="202B39"/>
                </a:solidFill>
              </a:defRPr>
            </a:pPr>
            <a:r>
              <a:t>Try this frame: I think ... because ... about Demo.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977639" y="2926080"/>
            <a:ext cx="2514600" cy="2103120"/>
          </a:xfrm>
          <a:prstGeom prst="roundRect">
            <a:avLst/>
          </a:prstGeom>
          <a:solidFill>
            <a:srgbClr val="E7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78807" y="3108960"/>
            <a:ext cx="20574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 i="0">
                <a:solidFill>
                  <a:srgbClr val="355F88"/>
                </a:solidFill>
              </a:defRPr>
            </a:pPr>
            <a:r>
              <a:t>Point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78807" y="3429000"/>
            <a:ext cx="1965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0" i="0">
                <a:solidFill>
                  <a:srgbClr val="202B39"/>
                </a:solidFill>
              </a:defRPr>
            </a:pPr>
            <a:r>
              <a:t>Task: Complete the frame with your own idea.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995160" y="2926080"/>
            <a:ext cx="2514600" cy="2103120"/>
          </a:xfrm>
          <a:prstGeom prst="roundRect">
            <a:avLst/>
          </a:prstGeom>
          <a:solidFill>
            <a:srgbClr val="E7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96328" y="3108960"/>
            <a:ext cx="20574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 i="0">
                <a:solidFill>
                  <a:srgbClr val="355F88"/>
                </a:solidFill>
              </a:defRPr>
            </a:pPr>
            <a:r>
              <a:t>Point 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96328" y="3429000"/>
            <a:ext cx="1965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0" i="0">
                <a:solidFill>
                  <a:srgbClr val="202B39"/>
                </a:solidFill>
              </a:defRPr>
            </a:pPr>
            <a:r>
              <a:t>Add one more focus point.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23760" y="5669280"/>
            <a:ext cx="3291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 i="0">
                <a:solidFill>
                  <a:srgbClr val="607080"/>
                </a:solidFill>
              </a:defRPr>
            </a:pPr>
            <a:r>
              <a:t>Purpose: Highlight reusable sentence patterns and language points.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835640" y="6199632"/>
            <a:ext cx="713232" cy="301752"/>
          </a:xfrm>
          <a:prstGeom prst="roundRect">
            <a:avLst/>
          </a:prstGeom>
          <a:solidFill>
            <a:srgbClr val="E7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36224" y="6245352"/>
            <a:ext cx="512064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 i="0">
                <a:solidFill>
                  <a:srgbClr val="184C79"/>
                </a:solidFill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20040"/>
            <a:ext cx="11155680" cy="777240"/>
          </a:xfrm>
          <a:prstGeom prst="roundRect">
            <a:avLst/>
          </a:prstGeom>
          <a:solidFill>
            <a:srgbClr val="184C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512064"/>
            <a:ext cx="8138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 i="0">
                <a:solidFill>
                  <a:srgbClr val="FFFFFF"/>
                </a:solidFill>
              </a:defRPr>
            </a:pPr>
            <a:r>
              <a:t>Group Discussion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297680" y="2103120"/>
            <a:ext cx="3291840" cy="1828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BA5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0" y="2331720"/>
            <a:ext cx="27432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700" b="1" i="0">
                <a:solidFill>
                  <a:srgbClr val="184C79"/>
                </a:solidFill>
              </a:defRPr>
            </a:pPr>
            <a:r>
              <a:t>Discuss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63440" y="2743200"/>
            <a:ext cx="25603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 b="0" i="0">
                <a:solidFill>
                  <a:srgbClr val="202B39"/>
                </a:solidFill>
              </a:defRPr>
            </a:pPr>
            <a:r>
              <a:t>Question: What can we learn from Round8 Reading Trace Demo?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5840" y="2331720"/>
            <a:ext cx="2651760" cy="1645920"/>
          </a:xfrm>
          <a:prstGeom prst="roundRect">
            <a:avLst/>
          </a:prstGeom>
          <a:solidFill>
            <a:srgbClr val="E7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2514600"/>
            <a:ext cx="210312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 i="0">
                <a:solidFill>
                  <a:srgbClr val="184C79"/>
                </a:solidFill>
              </a:defRPr>
            </a:pPr>
            <a:r>
              <a:t>How To Work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88720" y="2834640"/>
            <a:ext cx="2194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 i="0">
                <a:solidFill>
                  <a:srgbClr val="202B39"/>
                </a:solidFill>
              </a:defRPr>
            </a:pPr>
            <a:r>
              <a:t>Work in groups and prepare two strong ideas.</a:t>
            </a:r>
          </a:p>
          <a:p>
            <a:pPr>
              <a:spcAft>
                <a:spcPts val="800"/>
              </a:spcAft>
              <a:defRPr sz="1500" b="0" i="0">
                <a:solidFill>
                  <a:srgbClr val="202B39"/>
                </a:solidFill>
              </a:defRPr>
            </a:pPr>
            <a:r>
              <a:t>Task: Choose one speaker for the group report.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2331720"/>
            <a:ext cx="2651760" cy="1645920"/>
          </a:xfrm>
          <a:prstGeom prst="roundRect">
            <a:avLst/>
          </a:prstGeom>
          <a:solidFill>
            <a:srgbClr val="E7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40" y="2514600"/>
            <a:ext cx="210312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400" b="1" i="0">
                <a:solidFill>
                  <a:srgbClr val="184C79"/>
                </a:solidFill>
              </a:defRPr>
            </a:pPr>
            <a:r>
              <a:t>Output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0" y="2834640"/>
            <a:ext cx="21945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 i="0">
                <a:solidFill>
                  <a:srgbClr val="202B39"/>
                </a:solidFill>
              </a:defRPr>
            </a:pPr>
            <a:r>
              <a:t>Teacher focus: Keep tasks clear and classroom-friendly.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657600" y="3154680"/>
            <a:ext cx="594360" cy="0"/>
          </a:xfrm>
          <a:prstGeom prst="line">
            <a:avLst/>
          </a:prstGeom>
          <a:ln>
            <a:solidFill>
              <a:srgbClr val="EBA5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7607808" y="3154680"/>
            <a:ext cx="484632" cy="0"/>
          </a:xfrm>
          <a:prstGeom prst="line">
            <a:avLst/>
          </a:prstGeom>
          <a:ln>
            <a:solidFill>
              <a:srgbClr val="EBA5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868680" y="5650992"/>
            <a:ext cx="9326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 i="0">
                <a:solidFill>
                  <a:srgbClr val="607080"/>
                </a:solidFill>
              </a:defRPr>
            </a:pPr>
            <a:r>
              <a:t>Purpose: Turn reading input into classroom discussion output.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835640" y="6199632"/>
            <a:ext cx="713232" cy="301752"/>
          </a:xfrm>
          <a:prstGeom prst="roundRect">
            <a:avLst/>
          </a:prstGeom>
          <a:solidFill>
            <a:srgbClr val="E7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36224" y="6245352"/>
            <a:ext cx="512064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 i="0">
                <a:solidFill>
                  <a:srgbClr val="184C79"/>
                </a:solidFill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20040"/>
            <a:ext cx="11155680" cy="777240"/>
          </a:xfrm>
          <a:prstGeom prst="roundRect">
            <a:avLst/>
          </a:prstGeom>
          <a:solidFill>
            <a:srgbClr val="184C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512064"/>
            <a:ext cx="8138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 i="0">
                <a:solidFill>
                  <a:srgbClr val="FFFFFF"/>
                </a:solidFill>
              </a:defRPr>
            </a:pPr>
            <a:r>
              <a:t>Summary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2331720"/>
            <a:ext cx="2926080" cy="12801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EBA5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663440" y="2697480"/>
            <a:ext cx="237744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800" b="1" i="0">
                <a:solidFill>
                  <a:srgbClr val="184C79"/>
                </a:solidFill>
              </a:defRPr>
            </a:pPr>
            <a:r>
              <a:t>Today we worked on Round8 Reading Trace Demo.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51560" y="1645920"/>
            <a:ext cx="2560320" cy="841248"/>
          </a:xfrm>
          <a:prstGeom prst="roundRect">
            <a:avLst/>
          </a:prstGeom>
          <a:solidFill>
            <a:srgbClr val="E7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16152" y="1874520"/>
            <a:ext cx="2194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 i="0">
                <a:solidFill>
                  <a:srgbClr val="202B39"/>
                </a:solidFill>
              </a:defRPr>
            </a:pPr>
            <a:r>
              <a:t>Review the key language and the main classroom task.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611880" y="2066544"/>
            <a:ext cx="777240" cy="905256"/>
          </a:xfrm>
          <a:prstGeom prst="line">
            <a:avLst/>
          </a:prstGeom>
          <a:ln>
            <a:solidFill>
              <a:srgbClr val="EBA5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8183879" y="1645920"/>
            <a:ext cx="2560320" cy="841248"/>
          </a:xfrm>
          <a:prstGeom prst="roundRect">
            <a:avLst/>
          </a:prstGeom>
          <a:solidFill>
            <a:srgbClr val="E7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48471" y="1874520"/>
            <a:ext cx="219456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400" b="1" i="0">
                <a:solidFill>
                  <a:srgbClr val="202B39"/>
                </a:solidFill>
              </a:defRPr>
            </a:pPr>
            <a:r>
              <a:t>Task: Finish the sentence 'Today I can now...'</a:t>
            </a:r>
          </a:p>
        </p:txBody>
      </p:sp>
      <p:cxnSp>
        <p:nvCxnSpPr>
          <p:cNvPr id="12" name="Connector 11"/>
          <p:cNvCxnSpPr/>
          <p:nvPr/>
        </p:nvCxnSpPr>
        <p:spPr>
          <a:xfrm flipH="1">
            <a:off x="7315200" y="2066544"/>
            <a:ext cx="868679" cy="905256"/>
          </a:xfrm>
          <a:prstGeom prst="line">
            <a:avLst/>
          </a:prstGeom>
          <a:ln>
            <a:solidFill>
              <a:srgbClr val="EBA5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868680" y="5650992"/>
            <a:ext cx="93268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 i="0">
                <a:solidFill>
                  <a:srgbClr val="607080"/>
                </a:solidFill>
              </a:defRPr>
            </a:pPr>
            <a:r>
              <a:t>Purpose: Lead-in, reading tasks, language support, discussion, summary, homework.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835640" y="6199632"/>
            <a:ext cx="713232" cy="301752"/>
          </a:xfrm>
          <a:prstGeom prst="roundRect">
            <a:avLst/>
          </a:prstGeom>
          <a:solidFill>
            <a:srgbClr val="E7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36224" y="6245352"/>
            <a:ext cx="512064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 i="0">
                <a:solidFill>
                  <a:srgbClr val="184C79"/>
                </a:solidFill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20040"/>
            <a:ext cx="11155680" cy="777240"/>
          </a:xfrm>
          <a:prstGeom prst="roundRect">
            <a:avLst/>
          </a:prstGeom>
          <a:solidFill>
            <a:srgbClr val="184C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512064"/>
            <a:ext cx="8138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 i="0">
                <a:solidFill>
                  <a:srgbClr val="FFFFFF"/>
                </a:solidFill>
              </a:defRPr>
            </a:pPr>
            <a:r>
              <a:t>Homework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68680" y="1691640"/>
            <a:ext cx="4663440" cy="2926080"/>
          </a:xfrm>
          <a:prstGeom prst="roundRect">
            <a:avLst/>
          </a:prstGeom>
          <a:solidFill>
            <a:srgbClr val="FFFFFF"/>
          </a:solidFill>
          <a:ln>
            <a:solidFill>
              <a:srgbClr val="E7F0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69848" y="1938528"/>
            <a:ext cx="2560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 i="0">
                <a:solidFill>
                  <a:srgbClr val="184C79"/>
                </a:solidFill>
              </a:defRPr>
            </a:pPr>
            <a:r>
              <a:t>Required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9848" y="2359152"/>
            <a:ext cx="411480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0" i="0">
                <a:solidFill>
                  <a:srgbClr val="202B39"/>
                </a:solidFill>
              </a:defRPr>
            </a:pPr>
            <a:r>
              <a:t>Review today's key language.</a:t>
            </a:r>
          </a:p>
          <a:p>
            <a:pPr>
              <a:spcAft>
                <a:spcPts val="800"/>
              </a:spcAft>
              <a:defRPr sz="1700" b="0" i="0">
                <a:solidFill>
                  <a:srgbClr val="202B39"/>
                </a:solidFill>
              </a:defRPr>
            </a:pPr>
            <a:r>
              <a:t>Finish or improve a short reading response.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80760" y="1691640"/>
            <a:ext cx="4663440" cy="2926080"/>
          </a:xfrm>
          <a:prstGeom prst="roundRect">
            <a:avLst/>
          </a:prstGeom>
          <a:solidFill>
            <a:srgbClr val="E7F0F8"/>
          </a:solidFill>
          <a:ln>
            <a:solidFill>
              <a:srgbClr val="E7F0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281928" y="1938528"/>
            <a:ext cx="25603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700" b="1" i="0">
                <a:solidFill>
                  <a:srgbClr val="184C79"/>
                </a:solidFill>
              </a:defRPr>
            </a:pPr>
            <a:r>
              <a:t>Extension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81928" y="2359152"/>
            <a:ext cx="4114800" cy="1965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0" i="0">
                <a:solidFill>
                  <a:srgbClr val="202B39"/>
                </a:solidFill>
              </a:defRPr>
            </a:pPr>
            <a:r>
              <a:t>Task: Bring one question to the next class.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325880" y="4983480"/>
            <a:ext cx="9418320" cy="594360"/>
          </a:xfrm>
          <a:prstGeom prst="roundRect">
            <a:avLst/>
          </a:prstGeom>
          <a:solidFill>
            <a:srgbClr val="EBA5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554480" y="5157216"/>
            <a:ext cx="896112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100" b="1" i="0">
                <a:solidFill>
                  <a:srgbClr val="FFFFFF"/>
                </a:solidFill>
              </a:defRPr>
            </a:pPr>
            <a:r>
              <a:t>Reminder: Bring one question to the next class.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32520" y="5074920"/>
            <a:ext cx="19202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 i="0">
                <a:solidFill>
                  <a:srgbClr val="607080"/>
                </a:solidFill>
              </a:defRPr>
            </a:pPr>
            <a:r>
              <a:t>Purpose: Assign focused follow-up work after class.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835640" y="6199632"/>
            <a:ext cx="713232" cy="301752"/>
          </a:xfrm>
          <a:prstGeom prst="roundRect">
            <a:avLst/>
          </a:prstGeom>
          <a:solidFill>
            <a:srgbClr val="E7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36224" y="6245352"/>
            <a:ext cx="512064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 i="0">
                <a:solidFill>
                  <a:srgbClr val="184C79"/>
                </a:solidFill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6F8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320040"/>
            <a:ext cx="11155680" cy="777240"/>
          </a:xfrm>
          <a:prstGeom prst="roundRect">
            <a:avLst/>
          </a:prstGeom>
          <a:solidFill>
            <a:srgbClr val="184C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512064"/>
            <a:ext cx="81381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400" b="1" i="0">
                <a:solidFill>
                  <a:srgbClr val="FFFFFF"/>
                </a:solidFill>
              </a:defRPr>
            </a:pPr>
            <a:r>
              <a:t>Blackboard Design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1572768"/>
            <a:ext cx="10332720" cy="4160520"/>
          </a:xfrm>
          <a:prstGeom prst="rect">
            <a:avLst/>
          </a:prstGeom>
          <a:solidFill>
            <a:srgbClr val="284934"/>
          </a:solidFill>
          <a:ln w="25400">
            <a:solidFill>
              <a:srgbClr val="1C32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1810512"/>
            <a:ext cx="9692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2200" b="1" i="0">
                <a:solidFill>
                  <a:srgbClr val="F7FAF4"/>
                </a:solidFill>
              </a:defRPr>
            </a:pPr>
            <a:r>
              <a:t>Round8 Reading Trace Demo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035040" y="2331720"/>
            <a:ext cx="0" cy="2971800"/>
          </a:xfrm>
          <a:prstGeom prst="line">
            <a:avLst/>
          </a:prstGeom>
          <a:ln>
            <a:solidFill>
              <a:srgbClr val="E1EBE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1170432" y="2468880"/>
            <a:ext cx="4389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 i="0">
                <a:solidFill>
                  <a:srgbClr val="E9F1E4"/>
                </a:solidFill>
              </a:defRPr>
            </a:pPr>
            <a:r>
              <a:t>Language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2468880"/>
            <a:ext cx="42062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1" i="0">
                <a:solidFill>
                  <a:srgbClr val="E9F1E4"/>
                </a:solidFill>
              </a:defRPr>
            </a:pPr>
            <a:r>
              <a:t>Task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70432" y="2852928"/>
            <a:ext cx="4389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0" i="0">
                <a:solidFill>
                  <a:srgbClr val="F5F7F2"/>
                </a:solidFill>
              </a:defRPr>
            </a:pPr>
            <a:r>
              <a:t>Topic -&gt; Evidence -&gt; Language -&gt; Output</a:t>
            </a:r>
          </a:p>
          <a:p>
            <a:pPr>
              <a:spcAft>
                <a:spcPts val="800"/>
              </a:spcAft>
              <a:defRPr sz="1700" b="0" i="0">
                <a:solidFill>
                  <a:srgbClr val="F5F7F2"/>
                </a:solidFill>
              </a:defRPr>
            </a:pPr>
            <a:r>
              <a:t>Useful frame: I think ... because ...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2852928"/>
            <a:ext cx="3840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700" b="0" i="0">
                <a:solidFill>
                  <a:srgbClr val="F5F7F2"/>
                </a:solidFill>
              </a:defRPr>
            </a:pPr>
            <a:r>
              <a:t>Task reminder</a:t>
            </a:r>
          </a:p>
          <a:p>
            <a:pPr>
              <a:spcAft>
                <a:spcPts val="800"/>
              </a:spcAft>
              <a:defRPr sz="1700" b="0" i="0">
                <a:solidFill>
                  <a:srgbClr val="F5F7F2"/>
                </a:solidFill>
              </a:defRPr>
            </a:pPr>
            <a:r>
              <a:t>Output target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23760" y="5669280"/>
            <a:ext cx="329184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 i="0">
                <a:solidFill>
                  <a:srgbClr val="607080"/>
                </a:solidFill>
              </a:defRPr>
            </a:pPr>
            <a:r>
              <a:t>Purpose: Present a concise board plan for the lesson.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835640" y="6199632"/>
            <a:ext cx="713232" cy="301752"/>
          </a:xfrm>
          <a:prstGeom prst="roundRect">
            <a:avLst/>
          </a:prstGeom>
          <a:solidFill>
            <a:srgbClr val="E7F0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36224" y="6245352"/>
            <a:ext cx="512064" cy="14630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000" b="1" i="0">
                <a:solidFill>
                  <a:srgbClr val="184C79"/>
                </a:solidFill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