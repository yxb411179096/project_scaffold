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a concise hook and show students the lesson focus on Disasters.</a:t>
            </a:r>
          </a:p>
          <a:p>
            <a:r>
              <a:t>Teaching Purpose: Set context quickly.</a:t>
            </a:r>
          </a:p>
          <a:p>
            <a:r>
              <a:t>Estimated Time: 2 minutes</a:t>
            </a:r>
          </a:p>
          <a:p>
            <a:r>
              <a:t>Interaction Type: Teacher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objectives aloud and ask students which goal may be the most challenging today. Keep the task pace tight so it fits the class period.</a:t>
            </a:r>
          </a:p>
          <a:p>
            <a:r>
              <a:t>Teaching Purpose: Present the measurable objectives from the teaching design.</a:t>
            </a:r>
          </a:p>
          <a:p>
            <a:r>
              <a:t>Estimated Time: 2 minutes</a:t>
            </a:r>
          </a:p>
          <a:p>
            <a:r>
              <a:t>Interaction Type: Teacher-student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two or three priorities so students know where to concentrate their attention.</a:t>
            </a:r>
          </a:p>
          <a:p>
            <a:r>
              <a:t>Teaching Purpose: Focus students on the key learning points of the lesson.</a:t>
            </a:r>
          </a:p>
          <a:p>
            <a:r>
              <a:t>Estimated Time: 2 minutes</a:t>
            </a:r>
          </a:p>
          <a:p>
            <a:r>
              <a:t>Interaction Type: Teacher guidance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students that the difficult points are normal and will be solved through guided practice.</a:t>
            </a:r>
          </a:p>
          <a:p>
            <a:r>
              <a:t>Teaching Purpose: Make major learning difficulties visible before practice begins.</a:t>
            </a:r>
          </a:p>
          <a:p>
            <a:r>
              <a:t>Estimated Time: 2 minutes</a:t>
            </a:r>
          </a:p>
          <a:p>
            <a:r>
              <a:t>Interaction Type: Teacher scaffolding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think-pair-share to activate background knowledge before the core task. Keep the task pace tight so it fits the class period.</a:t>
            </a:r>
          </a:p>
          <a:p>
            <a:r>
              <a:t>Teaching Purpose: Activate prior knowledge and raise classroom interest.</a:t>
            </a:r>
          </a:p>
          <a:p>
            <a:r>
              <a:t>Estimated Time: 3 minutes</a:t>
            </a:r>
          </a:p>
          <a:p>
            <a:r>
              <a:t>Interaction Type: Pair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two or three predictions and connect them to the reading purpose. Keep the task pace tight so it fits the class period.</a:t>
            </a:r>
          </a:p>
          <a:p>
            <a:r>
              <a:t>Teaching Purpose: Build an efficient reading purpose before detailed processing.</a:t>
            </a:r>
          </a:p>
          <a:p>
            <a:r>
              <a:t>Estimated Time: 3 minutes</a:t>
            </a:r>
          </a:p>
          <a:p>
            <a:r>
              <a:t>Interaction Type: Prediction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 to focus on main ideas instead of translating every sentence. Keep the task pace tight so it fits the class period.</a:t>
            </a:r>
          </a:p>
          <a:p>
            <a:r>
              <a:t>Teaching Purpose: Train students to identify gist quickly.</a:t>
            </a:r>
          </a:p>
          <a:p>
            <a:r>
              <a:t>Estimated Time: 5 minutes</a:t>
            </a:r>
          </a:p>
          <a:p>
            <a:r>
              <a:t>Interaction Type: Individual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to support answers with evidence from the text instead of guessing. Keep the task pace tight so it fits the class period.</a:t>
            </a:r>
          </a:p>
          <a:p>
            <a:r>
              <a:t>Teaching Purpose: Improve detail reading, inference, and evidence use.</a:t>
            </a:r>
          </a:p>
          <a:p>
            <a:r>
              <a:t>Estimated Time: 7 minutes</a:t>
            </a:r>
          </a:p>
          <a:p>
            <a:r>
              <a:t>Interaction Type: Question answering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explanations brief and move quickly to contextualized sentence practice. Keep the task pace tight so it fits the class period.</a:t>
            </a:r>
          </a:p>
          <a:p>
            <a:r>
              <a:t>Teaching Purpose: Support comprehension and later output with usable language.</a:t>
            </a:r>
          </a:p>
          <a:p>
            <a:r>
              <a:t>Estimated Time: 4 minutes</a:t>
            </a:r>
          </a:p>
          <a:p>
            <a:r>
              <a:t>Interaction Type: Language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success criteria before students begin the task. Use task-based language teaching to keep the task focused. Keep the task pace tight so it fits the class period.</a:t>
            </a:r>
          </a:p>
          <a:p>
            <a:r>
              <a:t>Teaching Purpose: Connect lesson input to a concrete classroom task.</a:t>
            </a:r>
          </a:p>
          <a:p>
            <a:r>
              <a:t>Estimated Time: 4 minutes</a:t>
            </a:r>
          </a:p>
          <a:p>
            <a:r>
              <a:t>Interaction Type: Task-based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 during the activity and support groups with prompts instead of full answers. Use task-based language teaching to keep the task focused. Keep the task pace tight so it fits the class period.</a:t>
            </a:r>
          </a:p>
          <a:p>
            <a:r>
              <a:t>Teaching Purpose: Create meaningful student talk and collaborative thinking.</a:t>
            </a:r>
          </a:p>
          <a:p>
            <a:r>
              <a:t>Estimated Time: 5 minutes</a:t>
            </a:r>
          </a:p>
          <a:p>
            <a:r>
              <a:t>Interaction Type: Group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summarize first, then use your summary to close gaps.</a:t>
            </a:r>
          </a:p>
          <a:p>
            <a:r>
              <a:t>Teaching Purpose: Lead-in, reading tasks, language support, discussion, summary, homework.</a:t>
            </a:r>
          </a:p>
          <a:p>
            <a:r>
              <a:t>Estimated Time: 3 minutes</a:t>
            </a:r>
          </a:p>
          <a:p>
            <a:r>
              <a:t>Interaction Type: Student reflection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product, length, and quality requirement clearly before students leave.</a:t>
            </a:r>
          </a:p>
          <a:p>
            <a:r>
              <a:t>Teaching Purpose: Extend learning beyond the classroom with focused follow-up work.</a:t>
            </a:r>
          </a:p>
          <a:p>
            <a:r>
              <a:t>Estimated Time: 2 minutes</a:t>
            </a:r>
          </a:p>
          <a:p>
            <a:r>
              <a:t>Interaction Type: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structure to keep classroom board work clear and easy to follow.</a:t>
            </a:r>
          </a:p>
          <a:p>
            <a:r>
              <a:t>Teaching Purpose: Provide a concise board plan for lesson organization.</a:t>
            </a:r>
          </a:p>
          <a:p>
            <a:r>
              <a:t>Estimated Time: 1 minute</a:t>
            </a:r>
          </a:p>
          <a:p>
            <a:r>
              <a:t>Interaction Type: Teacher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74320"/>
            <a:ext cx="2926080" cy="2103120"/>
          </a:xfrm>
          <a:prstGeom prst="ellipse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8138160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55F88"/>
                </a:solidFill>
              </a:defRPr>
            </a:pPr>
            <a:r>
              <a:t>Unit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4C79"/>
                </a:solidFill>
              </a:defRPr>
            </a:pPr>
            <a:r>
              <a:t>Updated Pipeline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02B39"/>
                </a:solidFill>
              </a:defRPr>
            </a:pPr>
            <a:r>
              <a:t>Unit 4</a:t>
            </a:r>
          </a:p>
          <a:p>
            <a:pPr>
              <a:spcAft>
                <a:spcPts val="1000"/>
              </a:spcAft>
              <a:defRPr sz="1800" b="0">
                <a:solidFill>
                  <a:srgbClr val="202B39"/>
                </a:solidFill>
              </a:defRPr>
            </a:pPr>
            <a:r>
              <a:t>Reading</a:t>
            </a:r>
          </a:p>
          <a:p>
            <a:pPr>
              <a:spcAft>
                <a:spcPts val="1000"/>
              </a:spcAft>
              <a:defRPr sz="1800" b="0">
                <a:solidFill>
                  <a:srgbClr val="202B39"/>
                </a:solidFill>
              </a:defRPr>
            </a:pPr>
            <a:r>
              <a:t>Focus: Disasters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82880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0116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 minutes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Teacher introduction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2B39"/>
                </a:solidFill>
              </a:defRPr>
            </a:pPr>
            <a:r>
              <a:t>Identify the main idea and key details related to Disasters.</a:t>
            </a:r>
          </a:p>
          <a:p>
            <a:pPr>
              <a:spcAft>
                <a:spcPts val="1000"/>
              </a:spcAft>
              <a:defRPr sz="2200" b="0">
                <a:solidFill>
                  <a:srgbClr val="202B39"/>
                </a:solidFill>
              </a:defRPr>
            </a:pPr>
            <a:r>
              <a:t>Use reading evidence to answer guided classroom questions.</a:t>
            </a:r>
          </a:p>
          <a:p>
            <a:pPr>
              <a:spcAft>
                <a:spcPts val="1000"/>
              </a:spcAft>
              <a:defRPr sz="2200" b="0">
                <a:solidFill>
                  <a:srgbClr val="202B39"/>
                </a:solidFill>
              </a:defRPr>
            </a:pPr>
            <a:r>
              <a:t>Give a short spoken or written response with clear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4C79"/>
                </a:solidFill>
              </a:defRPr>
            </a:pPr>
            <a:r>
              <a:t>2 minutes</a:t>
            </a:r>
          </a:p>
          <a:p/>
          <a:p>
            <a:r>
              <a:t>Teacher-student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080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Understand the central meaning of Unit 4 Natural Disasters.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Use textual evidence and useful expressions in discussion.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Complete a reading-based output task with teamwork.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key_points</a:t>
            </a:r>
          </a:p>
          <a:p/>
          <a:p>
            <a:r>
              <a:t>Purpose</a:t>
            </a:r>
          </a:p>
          <a:p>
            <a:r>
              <a:t>Focus students on the key learning points of the lesson.</a:t>
            </a:r>
          </a:p>
          <a:p/>
          <a:p>
            <a:r>
              <a:t>Interaction</a:t>
            </a:r>
          </a:p>
          <a:p>
            <a:r>
              <a:t>Teacher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2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Difficult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Turn input understanding into spoken or written classroom output.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Use target language accurately in meaningful contexts.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Move from guided understanding to independent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difficult_points</a:t>
            </a:r>
          </a:p>
          <a:p/>
          <a:p>
            <a:r>
              <a:t>Purpose</a:t>
            </a:r>
          </a:p>
          <a:p>
            <a:r>
              <a:t>Make major learning difficulties visible before practice begins.</a:t>
            </a:r>
          </a:p>
          <a:p/>
          <a:p>
            <a:r>
              <a:t>Interaction</a:t>
            </a:r>
          </a:p>
          <a:p>
            <a:r>
              <a:t>Teacher scaffolding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2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Look at the lesson title: Unit 4 Natural Disasters.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Share one fact or experience connected to Disasters.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Predict what we may learn or discuss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lead_in</a:t>
            </a:r>
          </a:p>
          <a:p/>
          <a:p>
            <a:r>
              <a:t>Purpose</a:t>
            </a:r>
          </a:p>
          <a:p>
            <a:r>
              <a:t>Activate prior knowledge and raise classroom interest.</a:t>
            </a:r>
          </a:p>
          <a:p/>
          <a:p>
            <a:r>
              <a:t>Interaction</a:t>
            </a:r>
          </a:p>
          <a:p>
            <a:r>
              <a:t>Pair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3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Look at the title, pictures, and key words.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Predict the topic and possible structure of the text.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Write one guiding question for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prediction</a:t>
            </a:r>
          </a:p>
          <a:p/>
          <a:p>
            <a:r>
              <a:t>Purpose</a:t>
            </a:r>
          </a:p>
          <a:p>
            <a:r>
              <a:t>Build an efficient reading purpose before detailed processing.</a:t>
            </a:r>
          </a:p>
          <a:p/>
          <a:p>
            <a:r>
              <a:t>Interaction</a:t>
            </a:r>
          </a:p>
          <a:p>
            <a:r>
              <a:t>Prediction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3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Skim the text in 2 minutes.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Match each paragraph with its main idea.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Choose the best summary sentence.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fast_reading</a:t>
            </a:r>
          </a:p>
          <a:p/>
          <a:p>
            <a:r>
              <a:t>Purpose</a:t>
            </a:r>
          </a:p>
          <a:p>
            <a:r>
              <a:t>Train students to identify gist quickly.</a:t>
            </a:r>
          </a:p>
          <a:p/>
          <a:p>
            <a:r>
              <a:t>Interaction</a:t>
            </a:r>
          </a:p>
          <a:p>
            <a:r>
              <a:t>Individual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5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Read again and locate key details.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Answer: What happens, why, and with what result?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Mark evidence that supports your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careful_reading</a:t>
            </a:r>
          </a:p>
          <a:p/>
          <a:p>
            <a:r>
              <a:t>Purpose</a:t>
            </a:r>
          </a:p>
          <a:p>
            <a:r>
              <a:t>Improve detail reading, inference, and evidence use.</a:t>
            </a:r>
          </a:p>
          <a:p/>
          <a:p>
            <a:r>
              <a:t>Interaction</a:t>
            </a:r>
          </a:p>
          <a:p>
            <a:r>
              <a:t>Question answering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7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Vocabulary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Target words: topic, evidence, response, support.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Match each word or phrase with a simple meaning.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Use one expression to make a sentence about Disasters.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vocabulary_support</a:t>
            </a:r>
          </a:p>
          <a:p/>
          <a:p>
            <a:r>
              <a:t>Purpose</a:t>
            </a:r>
          </a:p>
          <a:p>
            <a:r>
              <a:t>Support comprehension and later output with usable language.</a:t>
            </a:r>
          </a:p>
          <a:p/>
          <a:p>
            <a:r>
              <a:t>Interaction</a:t>
            </a:r>
          </a:p>
          <a:p>
            <a:r>
              <a:t>Language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Task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Task: complete a short reading response.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Step 1: gather ideas from today's lesson.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Step 2: organize evidence and language support.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Step 3: present or submit your final answer.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Teacher focus: 增加可执行的小组互动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task_design</a:t>
            </a:r>
          </a:p>
          <a:p/>
          <a:p>
            <a:r>
              <a:t>Purpose</a:t>
            </a:r>
          </a:p>
          <a:p>
            <a:r>
              <a:t>Connect lesson input to a concrete classroom task.</a:t>
            </a:r>
          </a:p>
          <a:p/>
          <a:p>
            <a:r>
              <a:t>Interaction</a:t>
            </a:r>
          </a:p>
          <a:p>
            <a:r>
              <a:t>Task-based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4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Classroom Interaction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Discuss in groups: What is your group's best answer, and what evidence supports it?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Choose one speaker and one note taker.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Be ready to share one group answer with the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classroom_interaction</a:t>
            </a:r>
          </a:p>
          <a:p/>
          <a:p>
            <a:r>
              <a:t>Purpose</a:t>
            </a:r>
          </a:p>
          <a:p>
            <a:r>
              <a:t>Create meaningful student talk and collaborative thinking.</a:t>
            </a:r>
          </a:p>
          <a:p/>
          <a:p>
            <a:r>
              <a:t>Interaction</a:t>
            </a:r>
          </a:p>
          <a:p>
            <a:r>
              <a:t>Group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5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2B39"/>
                </a:solidFill>
              </a:defRPr>
            </a:pPr>
            <a:r>
              <a:t>Review the key learning from Unit 4 Natural Disasters.</a:t>
            </a:r>
          </a:p>
          <a:p>
            <a:pPr>
              <a:spcAft>
                <a:spcPts val="1000"/>
              </a:spcAft>
              <a:defRPr sz="2200" b="0">
                <a:solidFill>
                  <a:srgbClr val="202B39"/>
                </a:solidFill>
              </a:defRPr>
            </a:pPr>
            <a:r>
              <a:t>Lead-in, reading tasks, language support, discussion, summary, homework.</a:t>
            </a:r>
          </a:p>
          <a:p>
            <a:pPr>
              <a:spcAft>
                <a:spcPts val="1000"/>
              </a:spcAft>
              <a:defRPr sz="2200" b="0">
                <a:solidFill>
                  <a:srgbClr val="202B39"/>
                </a:solidFill>
              </a:defRPr>
            </a:pPr>
            <a:r>
              <a:t>Check whether today's objectives have been achieved.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4C79"/>
                </a:solidFill>
              </a:defRPr>
            </a:pPr>
            <a:r>
              <a:t>3 minutes</a:t>
            </a:r>
          </a:p>
          <a:p/>
          <a:p>
            <a:r>
              <a:t>Student 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080"/>
                </a:solidFill>
              </a:defRPr>
            </a:pPr>
            <a:r>
              <a:t>Purpose: Lead-in, reading tasks, language support, discussion, summary, homework.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73152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149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589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02B39"/>
                </a:solidFill>
              </a:defRPr>
            </a:pPr>
            <a:r>
              <a:t>Review today's target words and expressions.</a:t>
            </a:r>
          </a:p>
          <a:p>
            <a:pPr>
              <a:spcAft>
                <a:spcPts val="1000"/>
              </a:spcAft>
              <a:defRPr sz="2200" b="0">
                <a:solidFill>
                  <a:srgbClr val="202B39"/>
                </a:solidFill>
              </a:defRPr>
            </a:pPr>
            <a:r>
              <a:t>Finish or improve your short reading response.</a:t>
            </a:r>
          </a:p>
          <a:p>
            <a:pPr>
              <a:spcAft>
                <a:spcPts val="1000"/>
              </a:spcAft>
              <a:defRPr sz="2200" b="0">
                <a:solidFill>
                  <a:srgbClr val="202B39"/>
                </a:solidFill>
              </a:defRPr>
            </a:pPr>
            <a:r>
              <a:t>Write 4 to 5 sentences about the reading topic.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874519"/>
            <a:ext cx="1645920" cy="2240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2057400"/>
            <a:ext cx="1188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84C79"/>
                </a:solidFill>
              </a:defRPr>
            </a:pPr>
            <a:r>
              <a:t>2 minutes</a:t>
            </a:r>
          </a:p>
          <a:p/>
          <a:p>
            <a:r>
              <a:t>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7080"/>
                </a:solidFill>
              </a:defRPr>
            </a:pPr>
            <a:r>
              <a:t>Purpose: Extend learning beyond the classroom with focused follow-up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11064240" cy="749808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2120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7452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6812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Unit 4 Natural Disasters.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Theme: Disasters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Key language -&gt; Evidence -&gt; Output</a:t>
            </a:r>
          </a:p>
          <a:p>
            <a:pPr>
              <a:spcAft>
                <a:spcPts val="1000"/>
              </a:spcAft>
              <a:defRPr sz="2000" b="0">
                <a:solidFill>
                  <a:srgbClr val="202B39"/>
                </a:solidFill>
              </a:defRPr>
            </a:pPr>
            <a:r>
              <a:t>Task product: short reading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2651760" cy="452628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9164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02B39"/>
                </a:solidFill>
              </a:defRPr>
            </a:pPr>
            <a:r>
              <a:t>Slide Type</a:t>
            </a:r>
          </a:p>
          <a:p>
            <a:r>
              <a:t>blackboard_design</a:t>
            </a:r>
          </a:p>
          <a:p/>
          <a:p>
            <a:r>
              <a:t>Purpose</a:t>
            </a:r>
          </a:p>
          <a:p>
            <a:r>
              <a:t>Provide a concise board plan for lesson organization.</a:t>
            </a:r>
          </a:p>
          <a:p/>
          <a:p>
            <a:r>
              <a:t>Interaction</a:t>
            </a:r>
          </a:p>
          <a:p>
            <a:r>
              <a:t>Teacher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800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1 minute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44200" y="6172200"/>
            <a:ext cx="777240" cy="34747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53928" y="62270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4C7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