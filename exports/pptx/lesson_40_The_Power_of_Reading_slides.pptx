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914400"/>
            <a:ext cx="813816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915400" y="-137160"/>
            <a:ext cx="2926080" cy="1965960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23444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355F88"/>
                </a:solidFill>
              </a:defRPr>
            </a:pPr>
            <a:r>
              <a:t>Unit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65836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184C79"/>
                </a:solidFill>
              </a:defRPr>
            </a:pPr>
            <a:r>
              <a:t>The Power Of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429000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 i="0">
                <a:solidFill>
                  <a:srgbClr val="607080"/>
                </a:solidFill>
              </a:defRPr>
            </a:pPr>
            <a:r>
              <a:t>Reading • 高一 • 人教版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690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Unit 1: The Power of Reading.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高一 | 人教版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965960"/>
            <a:ext cx="2468880" cy="12344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14884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2 minutes</a:t>
            </a:r>
          </a:p>
          <a:p>
            <a:r>
              <a:t>Teacher-student interaction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Introduce the topic and set the stage for the lesson.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Understand the main idea of passages about reading.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Develop skimming and scanning skills.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06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06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Share personal opinions on the value of reading.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Outline what students will achieve by the end of the lesson.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Lead-in: Discussion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4663440" cy="3611880"/>
          </a:xfrm>
          <a:prstGeom prst="rect">
            <a:avLst/>
          </a:prstGeom>
          <a:solidFill>
            <a:srgbClr val="E7F0F8"/>
          </a:solidFill>
          <a:ln w="19050">
            <a:solidFill>
              <a:srgbClr val="355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51560" y="2011680"/>
            <a:ext cx="4206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355F88"/>
                </a:solidFill>
              </a:defRPr>
            </a:pPr>
            <a:r>
              <a:t>Image Placeholder: The Power of Reading / scene / Reading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508760"/>
            <a:ext cx="53949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84C79"/>
                </a:solidFill>
              </a:defRPr>
            </a:pPr>
            <a:r>
              <a:t>Lead-in: Discussion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4028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Do you like reading books? Why or why not?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What kind of books do you usually read?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Can reading change a person’s life?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5720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55F88"/>
                </a:solidFill>
              </a:defRPr>
            </a:pPr>
            <a:r>
              <a:t>Interaction: Pair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Engage students and activate prior knowledge about reading.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Prediction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4663440" cy="3611880"/>
          </a:xfrm>
          <a:prstGeom prst="rect">
            <a:avLst/>
          </a:prstGeom>
          <a:solidFill>
            <a:srgbClr val="E7F0F8"/>
          </a:solidFill>
          <a:ln w="19050">
            <a:solidFill>
              <a:srgbClr val="355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51560" y="2011680"/>
            <a:ext cx="4206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355F88"/>
                </a:solidFill>
              </a:defRPr>
            </a:pPr>
            <a:r>
              <a:t>Image Placeholder: The Power of Reading / scene / Reading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508760"/>
            <a:ext cx="53949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84C79"/>
                </a:solidFill>
              </a:defRPr>
            </a:pPr>
            <a:r>
              <a:t>Prediction 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4028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Read the title: The Power of Reading.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Predict what the text may talk about.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Write one guiding question before reading.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5720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55F88"/>
                </a:solidFill>
              </a:defRPr>
            </a:pPr>
            <a:r>
              <a:t>Interaction: Individual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Encourage students to predict the content of the passage before reading.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Fast Reading: Main Idea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Read quickly to find the main idea.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Match paragraphs with headings.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Complete the classroom task.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983480"/>
            <a:ext cx="9235440" cy="59436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514807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202B39"/>
                </a:solidFill>
              </a:defRPr>
            </a:pPr>
            <a:r>
              <a:t>Task Reminder: Complete the classroom task.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Guide students in identifying the main idea through skimming.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Careful Reading: Details And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Read for key details.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Answer questions with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Complete the classroom task.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983480"/>
            <a:ext cx="9235440" cy="59436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514807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202B39"/>
                </a:solidFill>
              </a:defRPr>
            </a:pPr>
            <a:r>
              <a:t>Task Reminder: Complete the classroom task.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Help students find supporting details and evidence in the text.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Vocabulary Focus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32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95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Focus words: main idea, supporting detail, text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336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99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85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Match each word with its meaning.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340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03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89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Add one term.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Introduce useful words and phrases for better comprehension.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Language Points: Sentence Patterns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45920"/>
            <a:ext cx="10241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47088"/>
            <a:ext cx="9784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 i="0">
                <a:solidFill>
                  <a:srgbClr val="184C79"/>
                </a:solidFill>
              </a:defRPr>
            </a:pPr>
            <a:r>
              <a:t>Notice a useful sentence pattern.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Try this frame: I think ... because ... about Reading.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78807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8807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Add one more focus point.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96328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6328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Add one more focus 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566928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Highlight key sentence patterns for better language use.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Group Discussion: Personal Opinions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103120"/>
            <a:ext cx="32918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233172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 i="0">
                <a:solidFill>
                  <a:srgbClr val="184C79"/>
                </a:solidFill>
              </a:defRPr>
            </a:pPr>
            <a:r>
              <a:t>Discuss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7432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What can we learn from The Power of Reading?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331720"/>
            <a:ext cx="2651760" cy="16459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514600"/>
            <a:ext cx="2103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How To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834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Prepare two key ideas.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Choose a speaker for the group report.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331720"/>
            <a:ext cx="2651760" cy="16459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514600"/>
            <a:ext cx="2103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834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Share one strong idea with the class.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0" y="3154680"/>
            <a:ext cx="594360" cy="0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07808" y="3154680"/>
            <a:ext cx="484632" cy="0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Facilitate a classroom discussion on the value of reading.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Summary And Reflection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331720"/>
            <a:ext cx="292608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2697480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 i="0">
                <a:solidFill>
                  <a:srgbClr val="184C79"/>
                </a:solidFill>
              </a:defRPr>
            </a:pPr>
            <a:r>
              <a:t>Today we covered The Power of Reading.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1645920"/>
            <a:ext cx="2560320" cy="841248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187452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202B39"/>
                </a:solidFill>
              </a:defRPr>
            </a:pPr>
            <a:r>
              <a:t>Review key language and the main task.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11880" y="2066544"/>
            <a:ext cx="777240" cy="905256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183879" y="1645920"/>
            <a:ext cx="2560320" cy="841248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1" y="187452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202B39"/>
                </a:solidFill>
              </a:defRPr>
            </a:pPr>
            <a:r>
              <a:t>Finish: Today I can now...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315200" y="2066544"/>
            <a:ext cx="868679" cy="905256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Summarize key points and reflect on student learning outcomes.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Homework Assignment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4663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385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184C79"/>
                </a:solidFill>
              </a:defRPr>
            </a:pPr>
            <a: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359152"/>
            <a:ext cx="4114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Review today's key language.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Complete or improve a reading response.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691640"/>
            <a:ext cx="4663440" cy="2926080"/>
          </a:xfrm>
          <a:prstGeom prst="roundRect">
            <a:avLst/>
          </a:prstGeom>
          <a:solidFill>
            <a:srgbClr val="E7F0F8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9385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184C79"/>
                </a:solidFill>
              </a:defRPr>
            </a:pPr>
            <a:r>
              <a:t>Extension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1928" y="2359152"/>
            <a:ext cx="4114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Bring one question for next class.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4983480"/>
            <a:ext cx="9418320" cy="594360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5157216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Reminder: Bring one question to the next 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Assign follow-up reading or related tasks for home study.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Blackboard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572768"/>
            <a:ext cx="10332720" cy="4160520"/>
          </a:xfrm>
          <a:prstGeom prst="rect">
            <a:avLst/>
          </a:prstGeom>
          <a:solidFill>
            <a:srgbClr val="284934"/>
          </a:solidFill>
          <a:ln w="25400">
            <a:solidFill>
              <a:srgbClr val="1C3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10512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F7FAF4"/>
                </a:solidFill>
              </a:defRPr>
            </a:pPr>
            <a:r>
              <a:t>The Power of Reading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5040" y="2331720"/>
            <a:ext cx="0" cy="2971800"/>
          </a:xfrm>
          <a:prstGeom prst="line">
            <a:avLst/>
          </a:prstGeom>
          <a:ln>
            <a:solidFill>
              <a:srgbClr val="E1E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70432" y="24688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E9F1E4"/>
                </a:solidFill>
              </a:defRPr>
            </a:pPr>
            <a:r>
              <a:t>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46888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E9F1E4"/>
                </a:solidFill>
              </a:defRPr>
            </a:pPr>
            <a:r>
              <a:t>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852928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Topic -&gt; Evidence -&gt; Language -&gt; Output</a:t>
            </a:r>
          </a:p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Useful frame: I think... because...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852928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Task reminder</a:t>
            </a:r>
          </a:p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Output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566928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Provide a concise summary of the lesson plan on the board.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